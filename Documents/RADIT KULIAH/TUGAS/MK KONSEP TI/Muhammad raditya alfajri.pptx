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6" d="100"/>
          <a:sy n="66" d="100"/>
        </p:scale>
        <p:origin x="6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F090310B-61E2-4432-B359-2073C0AEDC44}" type="datetimeFigureOut">
              <a:rPr lang="en-US" smtClean="0"/>
              <a:t>10/12/2025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00E94B-586A-496B-9908-30D3B81FB31B}" type="slidenum">
              <a:rPr lang="en-US" smtClean="0"/>
              <a:t>‹#›</a:t>
            </a:fld>
            <a:endParaRPr lang="en-US"/>
          </a:p>
        </p:txBody>
      </p:sp>
    </p:spTree>
    <p:extLst>
      <p:ext uri="{BB962C8B-B14F-4D97-AF65-F5344CB8AC3E}">
        <p14:creationId xmlns:p14="http://schemas.microsoft.com/office/powerpoint/2010/main" val="6480736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90310B-61E2-4432-B359-2073C0AEDC44}" type="datetimeFigureOut">
              <a:rPr lang="en-US" smtClean="0"/>
              <a:t>10/12/2025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00E94B-586A-496B-9908-30D3B81FB31B}" type="slidenum">
              <a:rPr lang="en-US" smtClean="0"/>
              <a:t>‹#›</a:t>
            </a:fld>
            <a:endParaRPr lang="en-US"/>
          </a:p>
        </p:txBody>
      </p:sp>
    </p:spTree>
    <p:extLst>
      <p:ext uri="{BB962C8B-B14F-4D97-AF65-F5344CB8AC3E}">
        <p14:creationId xmlns:p14="http://schemas.microsoft.com/office/powerpoint/2010/main" val="380492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F090310B-61E2-4432-B359-2073C0AEDC44}" type="datetimeFigureOut">
              <a:rPr lang="en-US" smtClean="0"/>
              <a:t>10/12/2025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00E94B-586A-496B-9908-30D3B81FB31B}" type="slidenum">
              <a:rPr lang="en-US" smtClean="0"/>
              <a:t>‹#›</a:t>
            </a:fld>
            <a:endParaRPr lang="en-US"/>
          </a:p>
        </p:txBody>
      </p:sp>
    </p:spTree>
    <p:extLst>
      <p:ext uri="{BB962C8B-B14F-4D97-AF65-F5344CB8AC3E}">
        <p14:creationId xmlns:p14="http://schemas.microsoft.com/office/powerpoint/2010/main" val="60853538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F090310B-61E2-4432-B359-2073C0AEDC44}" type="datetimeFigureOut">
              <a:rPr lang="en-US" smtClean="0"/>
              <a:t>10/12/2025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0400E94B-586A-496B-9908-30D3B81FB31B}" type="slidenum">
              <a:rPr lang="en-US" smtClean="0"/>
              <a:t>‹#›</a:t>
            </a:fld>
            <a:endParaRPr lang="en-US"/>
          </a:p>
        </p:txBody>
      </p:sp>
    </p:spTree>
    <p:extLst>
      <p:ext uri="{BB962C8B-B14F-4D97-AF65-F5344CB8AC3E}">
        <p14:creationId xmlns:p14="http://schemas.microsoft.com/office/powerpoint/2010/main" val="2002381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F090310B-61E2-4432-B359-2073C0AEDC44}" type="datetimeFigureOut">
              <a:rPr lang="en-US" smtClean="0"/>
              <a:t>10/12/2025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00E94B-586A-496B-9908-30D3B81FB31B}"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171087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090310B-61E2-4432-B359-2073C0AEDC44}" type="datetimeFigureOut">
              <a:rPr lang="en-US" smtClean="0"/>
              <a:t>10/12/2025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400E94B-586A-496B-9908-30D3B81FB31B}" type="slidenum">
              <a:rPr lang="en-US" smtClean="0"/>
              <a:t>‹#›</a:t>
            </a:fld>
            <a:endParaRPr lang="en-US"/>
          </a:p>
        </p:txBody>
      </p:sp>
    </p:spTree>
    <p:extLst>
      <p:ext uri="{BB962C8B-B14F-4D97-AF65-F5344CB8AC3E}">
        <p14:creationId xmlns:p14="http://schemas.microsoft.com/office/powerpoint/2010/main" val="1503121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90310B-61E2-4432-B359-2073C0AEDC44}" type="datetimeFigureOut">
              <a:rPr lang="en-US" smtClean="0"/>
              <a:t>10/12/2025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400E94B-586A-496B-9908-30D3B81FB31B}" type="slidenum">
              <a:rPr lang="en-US" smtClean="0"/>
              <a:t>‹#›</a:t>
            </a:fld>
            <a:endParaRPr lang="en-US"/>
          </a:p>
        </p:txBody>
      </p:sp>
    </p:spTree>
    <p:extLst>
      <p:ext uri="{BB962C8B-B14F-4D97-AF65-F5344CB8AC3E}">
        <p14:creationId xmlns:p14="http://schemas.microsoft.com/office/powerpoint/2010/main" val="520958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F090310B-61E2-4432-B359-2073C0AEDC44}" type="datetimeFigureOut">
              <a:rPr lang="en-US" smtClean="0"/>
              <a:t>10/12/2025</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0400E94B-586A-496B-9908-30D3B81FB31B}" type="slidenum">
              <a:rPr lang="en-US" smtClean="0"/>
              <a:t>‹#›</a:t>
            </a:fld>
            <a:endParaRPr lang="en-US"/>
          </a:p>
        </p:txBody>
      </p:sp>
    </p:spTree>
    <p:extLst>
      <p:ext uri="{BB962C8B-B14F-4D97-AF65-F5344CB8AC3E}">
        <p14:creationId xmlns:p14="http://schemas.microsoft.com/office/powerpoint/2010/main" val="4089014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F090310B-61E2-4432-B359-2073C0AEDC44}" type="datetimeFigureOut">
              <a:rPr lang="en-US" smtClean="0"/>
              <a:t>10/12/2025</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0400E94B-586A-496B-9908-30D3B81FB31B}" type="slidenum">
              <a:rPr lang="en-US" smtClean="0"/>
              <a:t>‹#›</a:t>
            </a:fld>
            <a:endParaRPr lang="en-US"/>
          </a:p>
        </p:txBody>
      </p:sp>
    </p:spTree>
    <p:extLst>
      <p:ext uri="{BB962C8B-B14F-4D97-AF65-F5344CB8AC3E}">
        <p14:creationId xmlns:p14="http://schemas.microsoft.com/office/powerpoint/2010/main" val="1094904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90310B-61E2-4432-B359-2073C0AEDC44}"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00E94B-586A-496B-9908-30D3B81FB31B}" type="slidenum">
              <a:rPr lang="en-US" smtClean="0"/>
              <a:t>‹#›</a:t>
            </a:fld>
            <a:endParaRPr lang="en-US"/>
          </a:p>
        </p:txBody>
      </p:sp>
    </p:spTree>
    <p:extLst>
      <p:ext uri="{BB962C8B-B14F-4D97-AF65-F5344CB8AC3E}">
        <p14:creationId xmlns:p14="http://schemas.microsoft.com/office/powerpoint/2010/main" val="1791358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90310B-61E2-4432-B359-2073C0AEDC44}"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00E94B-586A-496B-9908-30D3B81FB31B}" type="slidenum">
              <a:rPr lang="en-US" smtClean="0"/>
              <a:t>‹#›</a:t>
            </a:fld>
            <a:endParaRPr lang="en-US"/>
          </a:p>
        </p:txBody>
      </p:sp>
    </p:spTree>
    <p:extLst>
      <p:ext uri="{BB962C8B-B14F-4D97-AF65-F5344CB8AC3E}">
        <p14:creationId xmlns:p14="http://schemas.microsoft.com/office/powerpoint/2010/main" val="3778084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F090310B-61E2-4432-B359-2073C0AEDC44}" type="datetimeFigureOut">
              <a:rPr lang="en-US" smtClean="0"/>
              <a:t>10/12/2025</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0400E94B-586A-496B-9908-30D3B81FB31B}" type="slidenum">
              <a:rPr lang="en-US" smtClean="0"/>
              <a:t>‹#›</a:t>
            </a:fld>
            <a:endParaRPr lang="en-US"/>
          </a:p>
        </p:txBody>
      </p:sp>
    </p:spTree>
    <p:extLst>
      <p:ext uri="{BB962C8B-B14F-4D97-AF65-F5344CB8AC3E}">
        <p14:creationId xmlns:p14="http://schemas.microsoft.com/office/powerpoint/2010/main" val="2248366104"/>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hyperlink" Target="https://edavos.com/mengenal-jaringan-komputer/"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B8059-0882-40B9-9150-FE8009D8697F}"/>
              </a:ext>
            </a:extLst>
          </p:cNvPr>
          <p:cNvSpPr>
            <a:spLocks noGrp="1"/>
          </p:cNvSpPr>
          <p:nvPr>
            <p:ph type="ctrTitle"/>
          </p:nvPr>
        </p:nvSpPr>
        <p:spPr/>
        <p:txBody>
          <a:bodyPr/>
          <a:lstStyle/>
          <a:p>
            <a:r>
              <a:rPr lang="en-US" dirty="0"/>
              <a:t>Muhammad </a:t>
            </a:r>
            <a:r>
              <a:rPr lang="en-US" dirty="0" err="1"/>
              <a:t>raditya</a:t>
            </a:r>
            <a:r>
              <a:rPr lang="en-US" dirty="0"/>
              <a:t> </a:t>
            </a:r>
            <a:r>
              <a:rPr lang="en-US" dirty="0" err="1"/>
              <a:t>alfajri</a:t>
            </a:r>
            <a:endParaRPr lang="en-US" dirty="0"/>
          </a:p>
        </p:txBody>
      </p:sp>
      <p:sp>
        <p:nvSpPr>
          <p:cNvPr id="3" name="Subtitle 2">
            <a:extLst>
              <a:ext uri="{FF2B5EF4-FFF2-40B4-BE49-F238E27FC236}">
                <a16:creationId xmlns:a16="http://schemas.microsoft.com/office/drawing/2014/main" id="{F0756BD3-127C-4215-9EE6-D5CFAFBEE43D}"/>
              </a:ext>
            </a:extLst>
          </p:cNvPr>
          <p:cNvSpPr>
            <a:spLocks noGrp="1"/>
          </p:cNvSpPr>
          <p:nvPr>
            <p:ph type="subTitle" idx="1"/>
          </p:nvPr>
        </p:nvSpPr>
        <p:spPr>
          <a:xfrm>
            <a:off x="3992940" y="4237041"/>
            <a:ext cx="4206120" cy="1326361"/>
          </a:xfrm>
        </p:spPr>
        <p:txBody>
          <a:bodyPr>
            <a:noAutofit/>
          </a:bodyPr>
          <a:lstStyle/>
          <a:p>
            <a:r>
              <a:rPr lang="en-US" sz="1800" dirty="0">
                <a:solidFill>
                  <a:schemeClr val="bg1"/>
                </a:solidFill>
              </a:rPr>
              <a:t>NIM: 28090008</a:t>
            </a:r>
          </a:p>
          <a:p>
            <a:r>
              <a:rPr lang="en-US" sz="1800" dirty="0">
                <a:solidFill>
                  <a:schemeClr val="bg1"/>
                </a:solidFill>
              </a:rPr>
              <a:t>Kelas: 1A</a:t>
            </a:r>
          </a:p>
          <a:p>
            <a:r>
              <a:rPr lang="en-US" sz="1800" dirty="0">
                <a:solidFill>
                  <a:schemeClr val="bg1"/>
                </a:solidFill>
              </a:rPr>
              <a:t>D4 Teknik </a:t>
            </a:r>
            <a:r>
              <a:rPr lang="en-US" sz="1800" dirty="0" err="1">
                <a:solidFill>
                  <a:schemeClr val="bg1"/>
                </a:solidFill>
              </a:rPr>
              <a:t>Informatika</a:t>
            </a:r>
            <a:endParaRPr lang="en-US" sz="1800" dirty="0">
              <a:solidFill>
                <a:schemeClr val="bg1"/>
              </a:solidFill>
            </a:endParaRPr>
          </a:p>
          <a:p>
            <a:endParaRPr lang="en-US" sz="1800" dirty="0">
              <a:solidFill>
                <a:schemeClr val="bg1"/>
              </a:solidFill>
            </a:endParaRPr>
          </a:p>
        </p:txBody>
      </p:sp>
      <p:sp>
        <p:nvSpPr>
          <p:cNvPr id="4" name="Subtitle 2">
            <a:extLst>
              <a:ext uri="{FF2B5EF4-FFF2-40B4-BE49-F238E27FC236}">
                <a16:creationId xmlns:a16="http://schemas.microsoft.com/office/drawing/2014/main" id="{186EF054-BAB3-4D50-B640-6AD71984F51C}"/>
              </a:ext>
            </a:extLst>
          </p:cNvPr>
          <p:cNvSpPr txBox="1">
            <a:spLocks/>
          </p:cNvSpPr>
          <p:nvPr/>
        </p:nvSpPr>
        <p:spPr>
          <a:xfrm>
            <a:off x="2186568" y="5462658"/>
            <a:ext cx="8170215" cy="430249"/>
          </a:xfrm>
          <a:prstGeom prst="rect">
            <a:avLst/>
          </a:prstGeom>
          <a:noFill/>
        </p:spPr>
        <p:txBody>
          <a:bodyPr vert="horz" lIns="91440" tIns="45720" rIns="91440" bIns="45720" rtlCol="0">
            <a:no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r>
              <a:rPr lang="en-US" sz="3200" b="1" dirty="0">
                <a:solidFill>
                  <a:schemeClr val="bg1"/>
                </a:solidFill>
              </a:rPr>
              <a:t>UNIVERSITAS HARKAT NEGERI TEGAL</a:t>
            </a:r>
          </a:p>
        </p:txBody>
      </p:sp>
    </p:spTree>
    <p:extLst>
      <p:ext uri="{BB962C8B-B14F-4D97-AF65-F5344CB8AC3E}">
        <p14:creationId xmlns:p14="http://schemas.microsoft.com/office/powerpoint/2010/main" val="1245207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63E17-B908-496F-B094-C541C59906ED}"/>
              </a:ext>
            </a:extLst>
          </p:cNvPr>
          <p:cNvSpPr>
            <a:spLocks noGrp="1"/>
          </p:cNvSpPr>
          <p:nvPr>
            <p:ph type="title"/>
          </p:nvPr>
        </p:nvSpPr>
        <p:spPr>
          <a:xfrm>
            <a:off x="865632" y="1980398"/>
            <a:ext cx="10460736" cy="2897204"/>
          </a:xfrm>
        </p:spPr>
        <p:txBody>
          <a:bodyPr>
            <a:noAutofit/>
          </a:bodyPr>
          <a:lstStyle/>
          <a:p>
            <a:pPr algn="l"/>
            <a:r>
              <a:rPr lang="en-US" sz="3200" dirty="0"/>
              <a:t>- PERBEDAAN INTERNET DAN INTRANET</a:t>
            </a:r>
            <a:br>
              <a:rPr lang="en-US" sz="3200" dirty="0"/>
            </a:br>
            <a:r>
              <a:rPr lang="en-US" sz="3200" dirty="0"/>
              <a:t>- PERBEDAAN INTERNET DAN EKSTRENET</a:t>
            </a:r>
            <a:br>
              <a:rPr lang="en-US" sz="3200" dirty="0"/>
            </a:br>
            <a:r>
              <a:rPr lang="en-US" sz="3200" dirty="0"/>
              <a:t>- VPN (VIRTUAL PRIVATE NETWORK)</a:t>
            </a:r>
            <a:br>
              <a:rPr lang="en-US" sz="3200" dirty="0"/>
            </a:br>
            <a:r>
              <a:rPr lang="en-US" sz="3200" dirty="0"/>
              <a:t>- CARA KERJA ISP (INTERNET SERVICE PROVIDER)</a:t>
            </a:r>
            <a:br>
              <a:rPr lang="en-US" sz="3200" dirty="0"/>
            </a:br>
            <a:r>
              <a:rPr lang="en-US" sz="3200" dirty="0"/>
              <a:t>- TCP/IP</a:t>
            </a:r>
          </a:p>
        </p:txBody>
      </p:sp>
      <p:sp>
        <p:nvSpPr>
          <p:cNvPr id="4" name="TextBox 3">
            <a:extLst>
              <a:ext uri="{FF2B5EF4-FFF2-40B4-BE49-F238E27FC236}">
                <a16:creationId xmlns:a16="http://schemas.microsoft.com/office/drawing/2014/main" id="{AD7138A5-B843-4918-B13F-888811DE29DA}"/>
              </a:ext>
            </a:extLst>
          </p:cNvPr>
          <p:cNvSpPr txBox="1"/>
          <p:nvPr/>
        </p:nvSpPr>
        <p:spPr>
          <a:xfrm>
            <a:off x="865632" y="808522"/>
            <a:ext cx="3061475" cy="707886"/>
          </a:xfrm>
          <a:prstGeom prst="rect">
            <a:avLst/>
          </a:prstGeom>
          <a:noFill/>
        </p:spPr>
        <p:txBody>
          <a:bodyPr wrap="square" rtlCol="0">
            <a:spAutoFit/>
          </a:bodyPr>
          <a:lstStyle/>
          <a:p>
            <a:r>
              <a:rPr lang="en-US" sz="4000" dirty="0">
                <a:solidFill>
                  <a:srgbClr val="FF0000"/>
                </a:solidFill>
                <a:latin typeface="Impact" panose="020B0806030902050204" pitchFamily="34" charset="0"/>
              </a:rPr>
              <a:t>PEMBAHASAN</a:t>
            </a:r>
          </a:p>
        </p:txBody>
      </p:sp>
      <p:cxnSp>
        <p:nvCxnSpPr>
          <p:cNvPr id="6" name="Straight Connector 5">
            <a:extLst>
              <a:ext uri="{FF2B5EF4-FFF2-40B4-BE49-F238E27FC236}">
                <a16:creationId xmlns:a16="http://schemas.microsoft.com/office/drawing/2014/main" id="{110AE98D-ED7F-4BD4-9B90-4802E9188950}"/>
              </a:ext>
            </a:extLst>
          </p:cNvPr>
          <p:cNvCxnSpPr>
            <a:cxnSpLocks/>
          </p:cNvCxnSpPr>
          <p:nvPr/>
        </p:nvCxnSpPr>
        <p:spPr>
          <a:xfrm>
            <a:off x="991402" y="1516408"/>
            <a:ext cx="2569945"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03417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3011E-D67D-4090-9AF3-B41D9F1E75BA}"/>
              </a:ext>
            </a:extLst>
          </p:cNvPr>
          <p:cNvSpPr>
            <a:spLocks noGrp="1"/>
          </p:cNvSpPr>
          <p:nvPr>
            <p:ph type="title"/>
          </p:nvPr>
        </p:nvSpPr>
        <p:spPr/>
        <p:txBody>
          <a:bodyPr/>
          <a:lstStyle/>
          <a:p>
            <a:r>
              <a:rPr lang="en-US" dirty="0"/>
              <a:t>PERBEDAAN INTERNET &amp; INTRANET</a:t>
            </a:r>
          </a:p>
        </p:txBody>
      </p:sp>
    </p:spTree>
    <p:extLst>
      <p:ext uri="{BB962C8B-B14F-4D97-AF65-F5344CB8AC3E}">
        <p14:creationId xmlns:p14="http://schemas.microsoft.com/office/powerpoint/2010/main" val="3524313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90E02-E1C7-49ED-936A-BDE1DC31F11F}"/>
              </a:ext>
            </a:extLst>
          </p:cNvPr>
          <p:cNvSpPr>
            <a:spLocks noGrp="1"/>
          </p:cNvSpPr>
          <p:nvPr>
            <p:ph type="title"/>
          </p:nvPr>
        </p:nvSpPr>
        <p:spPr>
          <a:xfrm>
            <a:off x="1980638" y="357278"/>
            <a:ext cx="2050180" cy="460871"/>
          </a:xfrm>
        </p:spPr>
        <p:txBody>
          <a:bodyPr/>
          <a:lstStyle/>
          <a:p>
            <a:r>
              <a:rPr lang="en-US" dirty="0"/>
              <a:t>INTERNET</a:t>
            </a:r>
          </a:p>
        </p:txBody>
      </p:sp>
      <p:pic>
        <p:nvPicPr>
          <p:cNvPr id="12" name="Picture Placeholder 11">
            <a:extLst>
              <a:ext uri="{FF2B5EF4-FFF2-40B4-BE49-F238E27FC236}">
                <a16:creationId xmlns:a16="http://schemas.microsoft.com/office/drawing/2014/main" id="{4D77809D-E32C-4213-B56C-D5A2496DC0EB}"/>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250" r="250"/>
          <a:stretch>
            <a:fillRect/>
          </a:stretch>
        </p:blipFill>
        <p:spPr/>
      </p:pic>
      <p:sp>
        <p:nvSpPr>
          <p:cNvPr id="4" name="Text Placeholder 3">
            <a:extLst>
              <a:ext uri="{FF2B5EF4-FFF2-40B4-BE49-F238E27FC236}">
                <a16:creationId xmlns:a16="http://schemas.microsoft.com/office/drawing/2014/main" id="{277D764E-1AF8-4EEF-A12E-FFA46094A4BF}"/>
              </a:ext>
            </a:extLst>
          </p:cNvPr>
          <p:cNvSpPr>
            <a:spLocks noGrp="1"/>
          </p:cNvSpPr>
          <p:nvPr>
            <p:ph type="body" sz="half" idx="2"/>
          </p:nvPr>
        </p:nvSpPr>
        <p:spPr>
          <a:xfrm>
            <a:off x="240631" y="818149"/>
            <a:ext cx="5530195" cy="3878981"/>
          </a:xfrm>
        </p:spPr>
        <p:txBody>
          <a:bodyPr>
            <a:noAutofit/>
          </a:bodyPr>
          <a:lstStyle/>
          <a:p>
            <a:pPr algn="just">
              <a:lnSpc>
                <a:spcPct val="107000"/>
              </a:lnSpc>
              <a:spcAft>
                <a:spcPts val="800"/>
              </a:spcAft>
            </a:pPr>
            <a:r>
              <a:rPr lang="en-US" sz="1800" dirty="0" err="1">
                <a:solidFill>
                  <a:schemeClr val="tx1"/>
                </a:solidFill>
                <a:effectLst/>
                <a:latin typeface="Segoe UI" panose="020B0502040204020203" pitchFamily="34" charset="0"/>
                <a:ea typeface="Calibri" panose="020F0502020204030204" pitchFamily="34" charset="0"/>
                <a:cs typeface="Times New Roman" panose="02020603050405020304" pitchFamily="18" charset="0"/>
              </a:rPr>
              <a:t>Definisi</a:t>
            </a:r>
            <a:endParaRPr lang="en-US"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id-ID" sz="1800" dirty="0">
                <a:solidFill>
                  <a:schemeClr val="tx1"/>
                </a:solidFill>
                <a:effectLst/>
                <a:latin typeface="Segoe UI" panose="020B0502040204020203" pitchFamily="34" charset="0"/>
                <a:ea typeface="Calibri" panose="020F0502020204030204" pitchFamily="34" charset="0"/>
                <a:cs typeface="Times New Roman" panose="02020603050405020304" pitchFamily="18" charset="0"/>
              </a:rPr>
              <a:t>internet merupakan jaringan global yang menghubungkan seluruh komputer di dunia, yang memungkinkan penggunanya untuk berkomunikasi satu sama lain dan berbagi data dalam jumlah besar dalam berbagai format.</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1800" dirty="0">
                <a:solidFill>
                  <a:schemeClr val="tx1"/>
                </a:solidFill>
                <a:effectLst/>
                <a:latin typeface="Segoe UI" panose="020B0502040204020203" pitchFamily="34" charset="0"/>
                <a:ea typeface="Calibri" panose="020F0502020204030204" pitchFamily="34" charset="0"/>
                <a:cs typeface="Times New Roman" panose="02020603050405020304" pitchFamily="18" charset="0"/>
              </a:rPr>
              <a:t>Cara </a:t>
            </a:r>
            <a:r>
              <a:rPr lang="en-US" sz="1800" dirty="0" err="1">
                <a:solidFill>
                  <a:schemeClr val="tx1"/>
                </a:solidFill>
                <a:effectLst/>
                <a:latin typeface="Segoe UI" panose="020B0502040204020203" pitchFamily="34" charset="0"/>
                <a:ea typeface="Calibri" panose="020F0502020204030204" pitchFamily="34" charset="0"/>
                <a:cs typeface="Times New Roman" panose="02020603050405020304" pitchFamily="18" charset="0"/>
              </a:rPr>
              <a:t>Kerja</a:t>
            </a:r>
            <a:r>
              <a:rPr lang="en-US" sz="1800" dirty="0">
                <a:solidFill>
                  <a:schemeClr val="tx1"/>
                </a:solidFill>
                <a:effectLst/>
                <a:latin typeface="Segoe UI" panose="020B0502040204020203" pitchFamily="34" charset="0"/>
                <a:ea typeface="Calibri" panose="020F0502020204030204" pitchFamily="34" charset="0"/>
                <a:cs typeface="Times New Roman" panose="02020603050405020304" pitchFamily="18" charset="0"/>
              </a:rPr>
              <a:t> Internet</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id-ID" sz="1800" dirty="0">
                <a:solidFill>
                  <a:schemeClr val="tx1"/>
                </a:solidFill>
                <a:effectLst/>
                <a:latin typeface="Segoe UI" panose="020B0502040204020203" pitchFamily="34" charset="0"/>
                <a:ea typeface="Calibri" panose="020F0502020204030204" pitchFamily="34" charset="0"/>
                <a:cs typeface="Times New Roman" panose="02020603050405020304" pitchFamily="18" charset="0"/>
              </a:rPr>
              <a:t>Internet bekerja berdasarkan jaringan routing yang terhubung ke Internet Protocol (IP) dan Transport Control Protocol (TCP).</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id-ID" sz="1800" dirty="0">
                <a:solidFill>
                  <a:schemeClr val="tx1"/>
                </a:solidFill>
                <a:effectLst/>
                <a:latin typeface="Segoe UI" panose="020B0502040204020203" pitchFamily="34" charset="0"/>
                <a:ea typeface="Calibri" panose="020F0502020204030204" pitchFamily="34" charset="0"/>
                <a:cs typeface="Times New Roman" panose="02020603050405020304" pitchFamily="18" charset="0"/>
              </a:rPr>
              <a:t>Ketika data ditransfer melalui internet, data tersebut dikirimkan dalam bentuk pesan dan paket. Data yang dikirim melalui internet disebut pesan, tetapi sebelum pesan dikirim, mereka dipecah menjadi bagian-bagian kecil yang disebut paket.</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sz="1800" dirty="0">
              <a:solidFill>
                <a:schemeClr val="tx1"/>
              </a:solidFill>
            </a:endParaRPr>
          </a:p>
        </p:txBody>
      </p:sp>
    </p:spTree>
    <p:extLst>
      <p:ext uri="{BB962C8B-B14F-4D97-AF65-F5344CB8AC3E}">
        <p14:creationId xmlns:p14="http://schemas.microsoft.com/office/powerpoint/2010/main" val="696558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90E02-E1C7-49ED-936A-BDE1DC31F11F}"/>
              </a:ext>
            </a:extLst>
          </p:cNvPr>
          <p:cNvSpPr>
            <a:spLocks noGrp="1"/>
          </p:cNvSpPr>
          <p:nvPr>
            <p:ph type="title"/>
          </p:nvPr>
        </p:nvSpPr>
        <p:spPr>
          <a:xfrm>
            <a:off x="1980638" y="357278"/>
            <a:ext cx="2050180" cy="460871"/>
          </a:xfrm>
        </p:spPr>
        <p:txBody>
          <a:bodyPr/>
          <a:lstStyle/>
          <a:p>
            <a:r>
              <a:rPr lang="en-US" dirty="0" err="1"/>
              <a:t>INTRaNET</a:t>
            </a:r>
            <a:endParaRPr lang="en-US" dirty="0"/>
          </a:p>
        </p:txBody>
      </p:sp>
      <p:pic>
        <p:nvPicPr>
          <p:cNvPr id="7" name="Picture Placeholder 6">
            <a:extLst>
              <a:ext uri="{FF2B5EF4-FFF2-40B4-BE49-F238E27FC236}">
                <a16:creationId xmlns:a16="http://schemas.microsoft.com/office/drawing/2014/main" id="{5040E77B-A9DC-49CB-B0E2-DBC5A5BE1732}"/>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5509" r="5509"/>
          <a:stretch>
            <a:fillRect/>
          </a:stretch>
        </p:blipFill>
        <p:spPr/>
      </p:pic>
      <p:sp>
        <p:nvSpPr>
          <p:cNvPr id="4" name="Text Placeholder 3">
            <a:extLst>
              <a:ext uri="{FF2B5EF4-FFF2-40B4-BE49-F238E27FC236}">
                <a16:creationId xmlns:a16="http://schemas.microsoft.com/office/drawing/2014/main" id="{277D764E-1AF8-4EEF-A12E-FFA46094A4BF}"/>
              </a:ext>
            </a:extLst>
          </p:cNvPr>
          <p:cNvSpPr>
            <a:spLocks noGrp="1"/>
          </p:cNvSpPr>
          <p:nvPr>
            <p:ph type="body" sz="half" idx="2"/>
          </p:nvPr>
        </p:nvSpPr>
        <p:spPr>
          <a:xfrm>
            <a:off x="240630" y="587713"/>
            <a:ext cx="5530195" cy="5274643"/>
          </a:xfrm>
        </p:spPr>
        <p:txBody>
          <a:bodyPr>
            <a:noAutofit/>
          </a:bodyPr>
          <a:lstStyle/>
          <a:p>
            <a:pPr algn="just">
              <a:lnSpc>
                <a:spcPct val="107000"/>
              </a:lnSpc>
              <a:spcAft>
                <a:spcPts val="800"/>
              </a:spcAft>
            </a:pPr>
            <a:r>
              <a:rPr lang="en-US" sz="1800" dirty="0" err="1">
                <a:solidFill>
                  <a:schemeClr val="tx1"/>
                </a:solidFill>
                <a:effectLst/>
                <a:latin typeface="Segoe UI" panose="020B0502040204020203" pitchFamily="34" charset="0"/>
                <a:ea typeface="Calibri" panose="020F0502020204030204" pitchFamily="34" charset="0"/>
                <a:cs typeface="Times New Roman" panose="02020603050405020304" pitchFamily="18" charset="0"/>
              </a:rPr>
              <a:t>Definisi</a:t>
            </a:r>
            <a:endParaRPr lang="en-US" sz="18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id-ID" sz="1800" dirty="0">
                <a:solidFill>
                  <a:srgbClr val="222222"/>
                </a:solidFill>
                <a:effectLst/>
                <a:latin typeface="Segoe UI" panose="020B0502040204020203" pitchFamily="34" charset="0"/>
                <a:ea typeface="Calibri" panose="020F0502020204030204" pitchFamily="34" charset="0"/>
              </a:rPr>
              <a:t>intranet adalah bagian dari internet yang dimiliki dan digunakan secara pribadi oleh suatu organisasi atau perusahaan. Hanya saja intranet berjalan pada area LAN, sehingga koneksinya terbatas pada seberapa luas LAN yang ada. </a:t>
            </a:r>
            <a:endParaRPr lang="en-US" sz="1800" dirty="0">
              <a:solidFill>
                <a:srgbClr val="222222"/>
              </a:solidFill>
              <a:effectLst/>
              <a:latin typeface="Segoe UI" panose="020B0502040204020203" pitchFamily="34" charset="0"/>
              <a:ea typeface="Calibri" panose="020F0502020204030204" pitchFamily="34" charset="0"/>
            </a:endParaRPr>
          </a:p>
          <a:p>
            <a:pPr algn="just">
              <a:lnSpc>
                <a:spcPct val="107000"/>
              </a:lnSpc>
              <a:spcAft>
                <a:spcPts val="800"/>
              </a:spcAft>
            </a:pPr>
            <a:r>
              <a:rPr lang="en-US" sz="1800" dirty="0">
                <a:solidFill>
                  <a:schemeClr val="tx1"/>
                </a:solidFill>
                <a:effectLst/>
                <a:latin typeface="Segoe UI" panose="020B0502040204020203" pitchFamily="34" charset="0"/>
                <a:ea typeface="Calibri" panose="020F0502020204030204" pitchFamily="34" charset="0"/>
                <a:cs typeface="Times New Roman" panose="02020603050405020304" pitchFamily="18" charset="0"/>
              </a:rPr>
              <a:t>Cara </a:t>
            </a:r>
            <a:r>
              <a:rPr lang="en-US" sz="1800" dirty="0" err="1">
                <a:solidFill>
                  <a:schemeClr val="tx1"/>
                </a:solidFill>
                <a:effectLst/>
                <a:latin typeface="Segoe UI" panose="020B0502040204020203" pitchFamily="34" charset="0"/>
                <a:ea typeface="Calibri" panose="020F0502020204030204" pitchFamily="34" charset="0"/>
                <a:cs typeface="Times New Roman" panose="02020603050405020304" pitchFamily="18" charset="0"/>
              </a:rPr>
              <a:t>Kerja</a:t>
            </a:r>
            <a:r>
              <a:rPr lang="en-US" sz="1800" dirty="0">
                <a:solidFill>
                  <a:schemeClr val="tx1"/>
                </a:solidFill>
                <a:effectLst/>
                <a:latin typeface="Segoe UI" panose="020B0502040204020203" pitchFamily="34" charset="0"/>
                <a:ea typeface="Calibri" panose="020F0502020204030204" pitchFamily="34" charset="0"/>
                <a:cs typeface="Times New Roman" panose="02020603050405020304" pitchFamily="18" charset="0"/>
              </a:rPr>
              <a:t> Intranet</a:t>
            </a:r>
          </a:p>
          <a:p>
            <a:pPr algn="just">
              <a:lnSpc>
                <a:spcPct val="107000"/>
              </a:lnSpc>
              <a:spcAft>
                <a:spcPts val="800"/>
              </a:spcAft>
            </a:pPr>
            <a:r>
              <a:rPr lang="id-ID" sz="1800" dirty="0">
                <a:solidFill>
                  <a:srgbClr val="222222"/>
                </a:solidFill>
                <a:effectLst/>
                <a:latin typeface="Segoe UI" panose="020B0502040204020203" pitchFamily="34" charset="0"/>
                <a:ea typeface="Calibri" panose="020F0502020204030204" pitchFamily="34" charset="0"/>
              </a:rPr>
              <a:t>Intranet biasanya berjalan di lingkungan klien atau server dimana komputer terhubung menggunakan jaringan area lokal (LAN). </a:t>
            </a:r>
            <a:endParaRPr lang="en-US" sz="1800" dirty="0">
              <a:solidFill>
                <a:srgbClr val="222222"/>
              </a:solidFill>
              <a:effectLst/>
              <a:latin typeface="Segoe UI" panose="020B0502040204020203" pitchFamily="34" charset="0"/>
              <a:ea typeface="Calibri" panose="020F0502020204030204" pitchFamily="34" charset="0"/>
            </a:endParaRPr>
          </a:p>
          <a:p>
            <a:pPr algn="just">
              <a:lnSpc>
                <a:spcPct val="107000"/>
              </a:lnSpc>
              <a:spcAft>
                <a:spcPts val="800"/>
              </a:spcAft>
            </a:pPr>
            <a:r>
              <a:rPr lang="id-ID" sz="1800" dirty="0">
                <a:solidFill>
                  <a:srgbClr val="222222"/>
                </a:solidFill>
                <a:effectLst/>
                <a:latin typeface="Segoe UI" panose="020B0502040204020203" pitchFamily="34" charset="0"/>
                <a:ea typeface="Calibri" panose="020F0502020204030204" pitchFamily="34" charset="0"/>
                <a:cs typeface="Times New Roman" panose="02020603050405020304" pitchFamily="18" charset="0"/>
              </a:rPr>
              <a:t>Biasanya Intranet dilengkapi dengan firewall yang berfungsi untuk memfilter elemen yang tidak diinginkan masuk ke dalam jaringan dan melindunginya dari penyusup eksternal, termasuk konektivitas jaringan dan sistem telekomunikasi publik.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sz="1800" dirty="0">
              <a:solidFill>
                <a:schemeClr val="tx1"/>
              </a:solidFill>
            </a:endParaRPr>
          </a:p>
        </p:txBody>
      </p:sp>
    </p:spTree>
    <p:extLst>
      <p:ext uri="{BB962C8B-B14F-4D97-AF65-F5344CB8AC3E}">
        <p14:creationId xmlns:p14="http://schemas.microsoft.com/office/powerpoint/2010/main" val="3837762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1CAB9-1F54-480A-AC87-9ED3863772D6}"/>
              </a:ext>
            </a:extLst>
          </p:cNvPr>
          <p:cNvSpPr>
            <a:spLocks noGrp="1"/>
          </p:cNvSpPr>
          <p:nvPr>
            <p:ph type="title"/>
          </p:nvPr>
        </p:nvSpPr>
        <p:spPr>
          <a:xfrm>
            <a:off x="2231136" y="523613"/>
            <a:ext cx="7729728" cy="1188720"/>
          </a:xfrm>
        </p:spPr>
        <p:txBody>
          <a:bodyPr/>
          <a:lstStyle/>
          <a:p>
            <a:r>
              <a:rPr lang="en-US" dirty="0"/>
              <a:t>PERBEDAAN INTERNET DAN INTRANET</a:t>
            </a:r>
          </a:p>
        </p:txBody>
      </p:sp>
      <p:sp>
        <p:nvSpPr>
          <p:cNvPr id="3" name="Content Placeholder 2">
            <a:extLst>
              <a:ext uri="{FF2B5EF4-FFF2-40B4-BE49-F238E27FC236}">
                <a16:creationId xmlns:a16="http://schemas.microsoft.com/office/drawing/2014/main" id="{7DC66FA6-662C-4114-89FF-BF720B141B7B}"/>
              </a:ext>
            </a:extLst>
          </p:cNvPr>
          <p:cNvSpPr>
            <a:spLocks noGrp="1"/>
          </p:cNvSpPr>
          <p:nvPr>
            <p:ph idx="1"/>
          </p:nvPr>
        </p:nvSpPr>
        <p:spPr>
          <a:xfrm>
            <a:off x="1012898" y="2079778"/>
            <a:ext cx="10166204" cy="4359523"/>
          </a:xfrm>
        </p:spPr>
        <p:txBody>
          <a:bodyPr>
            <a:noAutofit/>
          </a:bodyPr>
          <a:lstStyle/>
          <a:p>
            <a:pPr marL="342900" lvl="0" indent="-342900" algn="just">
              <a:lnSpc>
                <a:spcPct val="107000"/>
              </a:lnSpc>
              <a:spcAft>
                <a:spcPts val="800"/>
              </a:spcAft>
              <a:buSzPts val="1000"/>
              <a:buFont typeface="Symbol" panose="05050102010706020507" pitchFamily="18" charset="2"/>
              <a:buChar char=""/>
              <a:tabLst>
                <a:tab pos="457200" algn="l"/>
              </a:tabLst>
            </a:pPr>
            <a:r>
              <a:rPr lang="en-US" sz="2000" b="1"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Internet</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menghubungkan</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berbagai</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u="sng" dirty="0" err="1">
                <a:solidFill>
                  <a:srgbClr val="1E73BE"/>
                </a:solidFill>
                <a:effectLst/>
                <a:latin typeface="Segoe UI" panose="020B0502040204020203" pitchFamily="34" charset="0"/>
                <a:ea typeface="Times New Roman" panose="02020603050405020304" pitchFamily="18" charset="0"/>
                <a:cs typeface="Times New Roman" panose="02020603050405020304" pitchFamily="18" charset="0"/>
                <a:hlinkClick r:id="rId2"/>
              </a:rPr>
              <a:t>jaringan</a:t>
            </a:r>
            <a:r>
              <a:rPr lang="en-US" sz="2000" u="sng" dirty="0">
                <a:solidFill>
                  <a:srgbClr val="1E73BE"/>
                </a:solidFill>
                <a:effectLst/>
                <a:latin typeface="Segoe UI" panose="020B0502040204020203" pitchFamily="34" charset="0"/>
                <a:ea typeface="Times New Roman" panose="02020603050405020304" pitchFamily="18" charset="0"/>
                <a:cs typeface="Times New Roman" panose="02020603050405020304" pitchFamily="18" charset="0"/>
                <a:hlinkClick r:id="rId2"/>
              </a:rPr>
              <a:t> </a:t>
            </a:r>
            <a:r>
              <a:rPr lang="en-US" sz="2000" u="sng" dirty="0" err="1">
                <a:solidFill>
                  <a:srgbClr val="1E73BE"/>
                </a:solidFill>
                <a:effectLst/>
                <a:latin typeface="Segoe UI" panose="020B0502040204020203" pitchFamily="34" charset="0"/>
                <a:ea typeface="Times New Roman" panose="02020603050405020304" pitchFamily="18" charset="0"/>
                <a:cs typeface="Times New Roman" panose="02020603050405020304" pitchFamily="18" charset="0"/>
                <a:hlinkClick r:id="rId2"/>
              </a:rPr>
              <a:t>komputer</a:t>
            </a:r>
            <a:r>
              <a:rPr lang="en-US" sz="2000" u="sng" dirty="0">
                <a:solidFill>
                  <a:srgbClr val="1E73BE"/>
                </a:solidFill>
                <a:effectLst/>
                <a:latin typeface="Segoe UI" panose="020B0502040204020203" pitchFamily="34" charset="0"/>
                <a:ea typeface="Times New Roman" panose="02020603050405020304" pitchFamily="18" charset="0"/>
                <a:cs typeface="Times New Roman" panose="02020603050405020304" pitchFamily="18" charset="0"/>
                <a:hlinkClick r:id="rId2"/>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dari</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seluruh</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dunia,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sedangkan</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b="1"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Intranet</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hanya</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menghubungkan</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beberapa</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komputer</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yang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berada</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dalam</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suatu</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jaringan</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privat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000" b="1"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Internet</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tidak</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dimiliki</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oleh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golongan</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atau</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organisasi</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tertentu</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Sedangkan</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jaringan</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b="1"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Intranet</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merupakan</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kepunyaan</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suatu</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organisasi</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atau</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perusahaan</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tertentu</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Oleh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sebab</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itu</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jaringan</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internet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disebut</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sebagai</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jaringan</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publik</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dan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jaringan</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intranet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disebut</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sebagai</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jaringan</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private.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Jumlah</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user yang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bisa</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mengakses</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b="1"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Internet</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tidak</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terbatas</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sedangkan</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jumlah</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user </a:t>
            </a:r>
            <a:r>
              <a:rPr lang="en-US" sz="2000" b="1"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Intranet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dibatasi</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dalam</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satu</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perusahaan</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atau</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satu</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organisasi</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saja</a:t>
            </a:r>
            <a:r>
              <a:rPr lang="en-US" sz="2000" dirty="0">
                <a:solidFill>
                  <a:srgbClr val="222222"/>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sz="2000" dirty="0" err="1">
                <a:solidFill>
                  <a:srgbClr val="222222"/>
                </a:solidFill>
                <a:effectLst/>
                <a:latin typeface="Segoe UI" panose="020B0502040204020203" pitchFamily="34" charset="0"/>
                <a:ea typeface="Times New Roman" panose="02020603050405020304" pitchFamily="18" charset="0"/>
              </a:rPr>
              <a:t>Siapapun</a:t>
            </a:r>
            <a:r>
              <a:rPr lang="en-US" sz="2000" dirty="0">
                <a:solidFill>
                  <a:srgbClr val="222222"/>
                </a:solidFill>
                <a:effectLst/>
                <a:latin typeface="Segoe UI" panose="020B0502040204020203" pitchFamily="34" charset="0"/>
                <a:ea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rPr>
              <a:t>bisa</a:t>
            </a:r>
            <a:r>
              <a:rPr lang="en-US" sz="2000" dirty="0">
                <a:solidFill>
                  <a:srgbClr val="222222"/>
                </a:solidFill>
                <a:effectLst/>
                <a:latin typeface="Segoe UI" panose="020B0502040204020203" pitchFamily="34" charset="0"/>
                <a:ea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rPr>
              <a:t>mengakses</a:t>
            </a:r>
            <a:r>
              <a:rPr lang="en-US" sz="2000" dirty="0">
                <a:solidFill>
                  <a:srgbClr val="222222"/>
                </a:solidFill>
                <a:effectLst/>
                <a:latin typeface="Segoe UI" panose="020B0502040204020203" pitchFamily="34" charset="0"/>
                <a:ea typeface="Times New Roman" panose="02020603050405020304" pitchFamily="18" charset="0"/>
              </a:rPr>
              <a:t> </a:t>
            </a:r>
            <a:r>
              <a:rPr lang="en-US" sz="2000" b="1" dirty="0">
                <a:solidFill>
                  <a:srgbClr val="222222"/>
                </a:solidFill>
                <a:effectLst/>
                <a:latin typeface="Segoe UI" panose="020B0502040204020203" pitchFamily="34" charset="0"/>
                <a:ea typeface="Times New Roman" panose="02020603050405020304" pitchFamily="18" charset="0"/>
              </a:rPr>
              <a:t>Internet</a:t>
            </a:r>
            <a:r>
              <a:rPr lang="en-US" sz="2000" dirty="0">
                <a:solidFill>
                  <a:srgbClr val="222222"/>
                </a:solidFill>
                <a:effectLst/>
                <a:latin typeface="Segoe UI" panose="020B0502040204020203" pitchFamily="34" charset="0"/>
                <a:ea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rPr>
              <a:t>sedangkan</a:t>
            </a:r>
            <a:r>
              <a:rPr lang="en-US" sz="2000" dirty="0">
                <a:solidFill>
                  <a:srgbClr val="222222"/>
                </a:solidFill>
                <a:effectLst/>
                <a:latin typeface="Segoe UI" panose="020B0502040204020203" pitchFamily="34" charset="0"/>
                <a:ea typeface="Times New Roman" panose="02020603050405020304" pitchFamily="18" charset="0"/>
              </a:rPr>
              <a:t> </a:t>
            </a:r>
            <a:r>
              <a:rPr lang="en-US" sz="2000" b="1" dirty="0">
                <a:solidFill>
                  <a:srgbClr val="222222"/>
                </a:solidFill>
                <a:effectLst/>
                <a:latin typeface="Segoe UI" panose="020B0502040204020203" pitchFamily="34" charset="0"/>
                <a:ea typeface="Times New Roman" panose="02020603050405020304" pitchFamily="18" charset="0"/>
              </a:rPr>
              <a:t>Intranet</a:t>
            </a:r>
            <a:r>
              <a:rPr lang="en-US" sz="2000" dirty="0">
                <a:solidFill>
                  <a:srgbClr val="222222"/>
                </a:solidFill>
                <a:effectLst/>
                <a:latin typeface="Segoe UI" panose="020B0502040204020203" pitchFamily="34" charset="0"/>
                <a:ea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rPr>
              <a:t>hanya</a:t>
            </a:r>
            <a:r>
              <a:rPr lang="en-US" sz="2000" dirty="0">
                <a:solidFill>
                  <a:srgbClr val="222222"/>
                </a:solidFill>
                <a:effectLst/>
                <a:latin typeface="Segoe UI" panose="020B0502040204020203" pitchFamily="34" charset="0"/>
                <a:ea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rPr>
              <a:t>bisa</a:t>
            </a:r>
            <a:r>
              <a:rPr lang="en-US" sz="2000" dirty="0">
                <a:solidFill>
                  <a:srgbClr val="222222"/>
                </a:solidFill>
                <a:effectLst/>
                <a:latin typeface="Segoe UI" panose="020B0502040204020203" pitchFamily="34" charset="0"/>
                <a:ea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rPr>
              <a:t>diakses</a:t>
            </a:r>
            <a:r>
              <a:rPr lang="en-US" sz="2000" dirty="0">
                <a:solidFill>
                  <a:srgbClr val="222222"/>
                </a:solidFill>
                <a:effectLst/>
                <a:latin typeface="Segoe UI" panose="020B0502040204020203" pitchFamily="34" charset="0"/>
                <a:ea typeface="Times New Roman" panose="02020603050405020304" pitchFamily="18" charset="0"/>
              </a:rPr>
              <a:t> oleh </a:t>
            </a:r>
            <a:r>
              <a:rPr lang="en-US" sz="2000" dirty="0" err="1">
                <a:solidFill>
                  <a:srgbClr val="222222"/>
                </a:solidFill>
                <a:effectLst/>
                <a:latin typeface="Segoe UI" panose="020B0502040204020203" pitchFamily="34" charset="0"/>
                <a:ea typeface="Times New Roman" panose="02020603050405020304" pitchFamily="18" charset="0"/>
              </a:rPr>
              <a:t>anggota</a:t>
            </a:r>
            <a:r>
              <a:rPr lang="en-US" sz="2000" dirty="0">
                <a:solidFill>
                  <a:srgbClr val="222222"/>
                </a:solidFill>
                <a:effectLst/>
                <a:latin typeface="Segoe UI" panose="020B0502040204020203" pitchFamily="34" charset="0"/>
                <a:ea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rPr>
              <a:t>organisasi</a:t>
            </a:r>
            <a:r>
              <a:rPr lang="en-US" sz="2000" dirty="0">
                <a:solidFill>
                  <a:srgbClr val="222222"/>
                </a:solidFill>
                <a:effectLst/>
                <a:latin typeface="Segoe UI" panose="020B0502040204020203" pitchFamily="34" charset="0"/>
                <a:ea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rPr>
              <a:t>atau</a:t>
            </a:r>
            <a:r>
              <a:rPr lang="en-US" sz="2000" dirty="0">
                <a:solidFill>
                  <a:srgbClr val="222222"/>
                </a:solidFill>
                <a:effectLst/>
                <a:latin typeface="Segoe UI" panose="020B0502040204020203" pitchFamily="34" charset="0"/>
                <a:ea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rPr>
              <a:t>karyawan</a:t>
            </a:r>
            <a:r>
              <a:rPr lang="en-US" sz="2000" dirty="0">
                <a:solidFill>
                  <a:srgbClr val="222222"/>
                </a:solidFill>
                <a:effectLst/>
                <a:latin typeface="Segoe UI" panose="020B0502040204020203" pitchFamily="34" charset="0"/>
                <a:ea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rPr>
              <a:t>perusahaan</a:t>
            </a:r>
            <a:r>
              <a:rPr lang="en-US" sz="2000" dirty="0">
                <a:solidFill>
                  <a:srgbClr val="222222"/>
                </a:solidFill>
                <a:effectLst/>
                <a:latin typeface="Segoe UI" panose="020B0502040204020203" pitchFamily="34" charset="0"/>
                <a:ea typeface="Times New Roman" panose="02020603050405020304" pitchFamily="18" charset="0"/>
              </a:rPr>
              <a:t> </a:t>
            </a:r>
            <a:r>
              <a:rPr lang="en-US" sz="2000" dirty="0" err="1">
                <a:solidFill>
                  <a:srgbClr val="222222"/>
                </a:solidFill>
                <a:effectLst/>
                <a:latin typeface="Segoe UI" panose="020B0502040204020203" pitchFamily="34" charset="0"/>
                <a:ea typeface="Times New Roman" panose="02020603050405020304" pitchFamily="18" charset="0"/>
              </a:rPr>
              <a:t>saja</a:t>
            </a:r>
            <a:r>
              <a:rPr lang="en-US" sz="2000" dirty="0">
                <a:solidFill>
                  <a:srgbClr val="222222"/>
                </a:solidFill>
                <a:effectLst/>
                <a:latin typeface="Segoe UI" panose="020B0502040204020203" pitchFamily="34" charset="0"/>
                <a:ea typeface="Times New Roman" panose="02020603050405020304" pitchFamily="18" charset="0"/>
              </a:rPr>
              <a:t>. </a:t>
            </a:r>
            <a:endParaRPr lang="en-US" sz="2000" dirty="0"/>
          </a:p>
        </p:txBody>
      </p:sp>
    </p:spTree>
    <p:extLst>
      <p:ext uri="{BB962C8B-B14F-4D97-AF65-F5344CB8AC3E}">
        <p14:creationId xmlns:p14="http://schemas.microsoft.com/office/powerpoint/2010/main" val="3809601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3011E-D67D-4090-9AF3-B41D9F1E75BA}"/>
              </a:ext>
            </a:extLst>
          </p:cNvPr>
          <p:cNvSpPr>
            <a:spLocks noGrp="1"/>
          </p:cNvSpPr>
          <p:nvPr>
            <p:ph type="title"/>
          </p:nvPr>
        </p:nvSpPr>
        <p:spPr/>
        <p:txBody>
          <a:bodyPr/>
          <a:lstStyle/>
          <a:p>
            <a:r>
              <a:rPr lang="en-US" dirty="0"/>
              <a:t>PERBEDAAN INTERNET &amp; EKSTRANET</a:t>
            </a:r>
          </a:p>
        </p:txBody>
      </p:sp>
    </p:spTree>
    <p:extLst>
      <p:ext uri="{BB962C8B-B14F-4D97-AF65-F5344CB8AC3E}">
        <p14:creationId xmlns:p14="http://schemas.microsoft.com/office/powerpoint/2010/main" val="1270687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2B14C-0C20-4CAB-BCA9-A7D10795B518}"/>
              </a:ext>
            </a:extLst>
          </p:cNvPr>
          <p:cNvSpPr>
            <a:spLocks noGrp="1"/>
          </p:cNvSpPr>
          <p:nvPr>
            <p:ph type="title"/>
          </p:nvPr>
        </p:nvSpPr>
        <p:spPr>
          <a:xfrm>
            <a:off x="1853826" y="261415"/>
            <a:ext cx="2121408" cy="663001"/>
          </a:xfrm>
        </p:spPr>
        <p:txBody>
          <a:bodyPr>
            <a:normAutofit fontScale="90000"/>
          </a:bodyPr>
          <a:lstStyle/>
          <a:p>
            <a:r>
              <a:rPr lang="en-US" dirty="0"/>
              <a:t>EKSTRANET</a:t>
            </a:r>
          </a:p>
        </p:txBody>
      </p:sp>
      <p:pic>
        <p:nvPicPr>
          <p:cNvPr id="6" name="Content Placeholder 5">
            <a:extLst>
              <a:ext uri="{FF2B5EF4-FFF2-40B4-BE49-F238E27FC236}">
                <a16:creationId xmlns:a16="http://schemas.microsoft.com/office/drawing/2014/main" id="{D562416A-C0B5-47B5-903B-84EBC114632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35763" y="1823509"/>
            <a:ext cx="4816475" cy="3210983"/>
          </a:xfrm>
        </p:spPr>
      </p:pic>
      <p:sp>
        <p:nvSpPr>
          <p:cNvPr id="4" name="Text Placeholder 3">
            <a:extLst>
              <a:ext uri="{FF2B5EF4-FFF2-40B4-BE49-F238E27FC236}">
                <a16:creationId xmlns:a16="http://schemas.microsoft.com/office/drawing/2014/main" id="{5A33A345-426C-4106-BFC2-1A0D33BA9C39}"/>
              </a:ext>
            </a:extLst>
          </p:cNvPr>
          <p:cNvSpPr>
            <a:spLocks noGrp="1"/>
          </p:cNvSpPr>
          <p:nvPr>
            <p:ph type="body" sz="half" idx="2"/>
          </p:nvPr>
        </p:nvSpPr>
        <p:spPr>
          <a:xfrm>
            <a:off x="180474" y="758951"/>
            <a:ext cx="5642810" cy="5940232"/>
          </a:xfrm>
        </p:spPr>
        <p:txBody>
          <a:bodyPr>
            <a:noAutofit/>
          </a:bodyPr>
          <a:lstStyle/>
          <a:p>
            <a:pPr algn="just">
              <a:lnSpc>
                <a:spcPct val="107000"/>
              </a:lnSpc>
              <a:spcAft>
                <a:spcPts val="800"/>
              </a:spcAft>
            </a:pP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Deifnisi</a:t>
            </a:r>
            <a:endPar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id-ID" sz="2000" dirty="0">
                <a:solidFill>
                  <a:srgbClr val="2A2A2A"/>
                </a:solidFill>
                <a:effectLst/>
                <a:latin typeface="Arial" panose="020B0604020202020204" pitchFamily="34" charset="0"/>
                <a:ea typeface="Calibri" panose="020F0502020204030204" pitchFamily="34" charset="0"/>
                <a:cs typeface="Times New Roman" panose="02020603050405020304" pitchFamily="18" charset="0"/>
              </a:rPr>
              <a:t>ekstranet adalah gabungan beberapa intranet dalam perusahaan atau organisasi. Ekstranet biasanya menghubungkan intranet perusahaan induk dengan intranet pelanggan perusahaan tersebut. Sehingga proses komunikasi dan pengiriman informasi menjadi lebih mudah.</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id-ID" sz="2000" dirty="0">
                <a:solidFill>
                  <a:srgbClr val="333333"/>
                </a:solidFill>
                <a:effectLst/>
                <a:latin typeface="Arial" panose="020B0604020202020204" pitchFamily="34" charset="0"/>
                <a:ea typeface="Calibri" panose="020F0502020204030204" pitchFamily="34" charset="0"/>
              </a:rPr>
              <a:t>Ekstranet digunakan oleh organisasi yang perlu berbagi informasi dengan pihak eksternal, seperti pemasok atau pelanggan, tetapi tidak ingin memberikan akses penuh ke intranet mereka. Ekstranet dapat digunakan untuk berbagi informasi produk, status pesanan, atau data relevan lainnya dengan pelanggan. Ekstranet juga dapat digunakan untuk berkolaborasi dengan pemasok dalam pengembangan produk atau logistik.</a:t>
            </a:r>
            <a:endParaRPr lang="en-US" sz="2000" dirty="0"/>
          </a:p>
        </p:txBody>
      </p:sp>
    </p:spTree>
    <p:extLst>
      <p:ext uri="{BB962C8B-B14F-4D97-AF65-F5344CB8AC3E}">
        <p14:creationId xmlns:p14="http://schemas.microsoft.com/office/powerpoint/2010/main" val="1471036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A8D37-23BF-44CB-B431-556CE6BFC209}"/>
              </a:ext>
            </a:extLst>
          </p:cNvPr>
          <p:cNvSpPr>
            <a:spLocks noGrp="1"/>
          </p:cNvSpPr>
          <p:nvPr>
            <p:ph type="title"/>
          </p:nvPr>
        </p:nvSpPr>
        <p:spPr/>
        <p:txBody>
          <a:bodyPr/>
          <a:lstStyle/>
          <a:p>
            <a:r>
              <a:rPr lang="en-US" dirty="0"/>
              <a:t>KESIMPULAN</a:t>
            </a:r>
          </a:p>
        </p:txBody>
      </p:sp>
      <p:sp>
        <p:nvSpPr>
          <p:cNvPr id="3" name="Content Placeholder 2">
            <a:extLst>
              <a:ext uri="{FF2B5EF4-FFF2-40B4-BE49-F238E27FC236}">
                <a16:creationId xmlns:a16="http://schemas.microsoft.com/office/drawing/2014/main" id="{45A15D02-3381-47F5-A920-7831E7C7465B}"/>
              </a:ext>
            </a:extLst>
          </p:cNvPr>
          <p:cNvSpPr>
            <a:spLocks noGrp="1"/>
          </p:cNvSpPr>
          <p:nvPr>
            <p:ph idx="1"/>
          </p:nvPr>
        </p:nvSpPr>
        <p:spPr>
          <a:xfrm>
            <a:off x="1951361" y="2618793"/>
            <a:ext cx="8289277" cy="3101983"/>
          </a:xfrm>
        </p:spPr>
        <p:txBody>
          <a:bodyPr>
            <a:noAutofit/>
          </a:bodyPr>
          <a:lstStyle/>
          <a:p>
            <a:pPr marL="342900" lvl="0" indent="-342900" algn="just">
              <a:lnSpc>
                <a:spcPct val="107000"/>
              </a:lnSpc>
              <a:spcAft>
                <a:spcPts val="750"/>
              </a:spcAft>
              <a:buFont typeface="+mj-lt"/>
              <a:buAutoNum type="arabicPeriod"/>
              <a:tabLst>
                <a:tab pos="457200" algn="l"/>
              </a:tabLst>
            </a:pPr>
            <a:r>
              <a:rPr lang="en-US" sz="2000" b="1"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Internet:</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Jaringan</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komputer</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dan server global yang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memungkinkan</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pengguna</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mengakses</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berbagai</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informasi</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dan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layanan</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US" sz="2000"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750"/>
              </a:spcAft>
              <a:buFont typeface="+mj-lt"/>
              <a:buAutoNum type="arabicPeriod"/>
              <a:tabLst>
                <a:tab pos="457200" algn="l"/>
              </a:tabLst>
            </a:pPr>
            <a:r>
              <a:rPr lang="en-US" sz="2000" b="1"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Intranet:</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Jaringan</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pribadi</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yang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hanya</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dapat</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diakses</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oleh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pengguna</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yang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berwenang</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dalam</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suatu</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organisasi</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dan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digunakan</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untuk</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komunikasi</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internal,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kolaborasi</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dan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manajemen</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operasi</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US" sz="2000"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750"/>
              </a:spcAft>
              <a:buFont typeface="+mj-lt"/>
              <a:buAutoNum type="arabicPeriod"/>
              <a:tabLst>
                <a:tab pos="457200" algn="l"/>
              </a:tabLst>
            </a:pPr>
            <a:r>
              <a:rPr lang="en-US" sz="2000" b="1"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Ekstranet</a:t>
            </a:r>
            <a:r>
              <a:rPr lang="en-US" sz="2000" b="1"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Jaringan</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pribadi</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yang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memungkinkan</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pihak</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eksternal</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mengakses</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bagian</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tertentu</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dari</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intranet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organisasi</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untuk</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komunikasi</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dan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kolaborasi</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eksternal</a:t>
            </a:r>
            <a:r>
              <a:rPr lang="en-US" sz="20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US" sz="2000"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sz="2000" dirty="0"/>
          </a:p>
        </p:txBody>
      </p:sp>
    </p:spTree>
    <p:extLst>
      <p:ext uri="{BB962C8B-B14F-4D97-AF65-F5344CB8AC3E}">
        <p14:creationId xmlns:p14="http://schemas.microsoft.com/office/powerpoint/2010/main" val="3181312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3011E-D67D-4090-9AF3-B41D9F1E75BA}"/>
              </a:ext>
            </a:extLst>
          </p:cNvPr>
          <p:cNvSpPr>
            <a:spLocks noGrp="1"/>
          </p:cNvSpPr>
          <p:nvPr>
            <p:ph type="title"/>
          </p:nvPr>
        </p:nvSpPr>
        <p:spPr/>
        <p:txBody>
          <a:bodyPr/>
          <a:lstStyle/>
          <a:p>
            <a:r>
              <a:rPr lang="en-US" dirty="0" err="1"/>
              <a:t>Vpn</a:t>
            </a:r>
            <a:r>
              <a:rPr lang="en-US" dirty="0"/>
              <a:t> </a:t>
            </a:r>
            <a:br>
              <a:rPr lang="en-US" dirty="0"/>
            </a:br>
            <a:r>
              <a:rPr lang="en-US" dirty="0"/>
              <a:t>(virtual private network)</a:t>
            </a:r>
          </a:p>
        </p:txBody>
      </p:sp>
    </p:spTree>
    <p:extLst>
      <p:ext uri="{BB962C8B-B14F-4D97-AF65-F5344CB8AC3E}">
        <p14:creationId xmlns:p14="http://schemas.microsoft.com/office/powerpoint/2010/main" val="448715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90E02-E1C7-49ED-936A-BDE1DC31F11F}"/>
              </a:ext>
            </a:extLst>
          </p:cNvPr>
          <p:cNvSpPr>
            <a:spLocks noGrp="1"/>
          </p:cNvSpPr>
          <p:nvPr>
            <p:ph type="title"/>
          </p:nvPr>
        </p:nvSpPr>
        <p:spPr>
          <a:xfrm>
            <a:off x="1980638" y="357278"/>
            <a:ext cx="2050180" cy="460871"/>
          </a:xfrm>
        </p:spPr>
        <p:txBody>
          <a:bodyPr/>
          <a:lstStyle/>
          <a:p>
            <a:r>
              <a:rPr lang="en-US" dirty="0" err="1"/>
              <a:t>vpn</a:t>
            </a:r>
            <a:endParaRPr lang="en-US" dirty="0"/>
          </a:p>
        </p:txBody>
      </p:sp>
      <p:pic>
        <p:nvPicPr>
          <p:cNvPr id="11" name="Picture Placeholder 10">
            <a:extLst>
              <a:ext uri="{FF2B5EF4-FFF2-40B4-BE49-F238E27FC236}">
                <a16:creationId xmlns:a16="http://schemas.microsoft.com/office/drawing/2014/main" id="{7E9E8402-3D26-49BC-BD9D-AF85C25128C9}"/>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5509" r="5509"/>
          <a:stretch>
            <a:fillRect/>
          </a:stretch>
        </p:blipFill>
        <p:spPr/>
      </p:pic>
      <p:sp>
        <p:nvSpPr>
          <p:cNvPr id="4" name="Text Placeholder 3">
            <a:extLst>
              <a:ext uri="{FF2B5EF4-FFF2-40B4-BE49-F238E27FC236}">
                <a16:creationId xmlns:a16="http://schemas.microsoft.com/office/drawing/2014/main" id="{277D764E-1AF8-4EEF-A12E-FFA46094A4BF}"/>
              </a:ext>
            </a:extLst>
          </p:cNvPr>
          <p:cNvSpPr>
            <a:spLocks noGrp="1"/>
          </p:cNvSpPr>
          <p:nvPr>
            <p:ph type="body" sz="half" idx="2"/>
          </p:nvPr>
        </p:nvSpPr>
        <p:spPr>
          <a:xfrm>
            <a:off x="240631" y="1195836"/>
            <a:ext cx="5530195" cy="3878981"/>
          </a:xfrm>
        </p:spPr>
        <p:txBody>
          <a:bodyPr>
            <a:noAutofit/>
          </a:bodyPr>
          <a:lstStyle/>
          <a:p>
            <a:pPr algn="just"/>
            <a:r>
              <a:rPr lang="en-US" sz="1800" dirty="0">
                <a:solidFill>
                  <a:srgbClr val="000000"/>
                </a:solidFill>
                <a:latin typeface="Arial" panose="020B0604020202020204" pitchFamily="34" charset="0"/>
                <a:ea typeface="Times New Roman" panose="02020603050405020304" pitchFamily="18" charset="0"/>
              </a:rPr>
              <a:t>   </a:t>
            </a:r>
            <a:r>
              <a:rPr lang="en-US" sz="1800" dirty="0">
                <a:solidFill>
                  <a:srgbClr val="000000"/>
                </a:solidFill>
                <a:effectLst/>
                <a:latin typeface="Arial" panose="020B0604020202020204" pitchFamily="34" charset="0"/>
                <a:ea typeface="Times New Roman" panose="02020603050405020304" pitchFamily="18" charset="0"/>
              </a:rPr>
              <a:t>VPN </a:t>
            </a:r>
            <a:r>
              <a:rPr lang="en-US" sz="1800" dirty="0" err="1">
                <a:solidFill>
                  <a:srgbClr val="000000"/>
                </a:solidFill>
                <a:effectLst/>
                <a:latin typeface="Arial" panose="020B0604020202020204" pitchFamily="34" charset="0"/>
                <a:ea typeface="Times New Roman" panose="02020603050405020304" pitchFamily="18" charset="0"/>
              </a:rPr>
              <a:t>adalah</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perangkat</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lunak</a:t>
            </a:r>
            <a:r>
              <a:rPr lang="en-US" sz="1800" dirty="0">
                <a:solidFill>
                  <a:srgbClr val="000000"/>
                </a:solidFill>
                <a:effectLst/>
                <a:latin typeface="Arial" panose="020B0604020202020204" pitchFamily="34" charset="0"/>
                <a:ea typeface="Times New Roman" panose="02020603050405020304" pitchFamily="18" charset="0"/>
              </a:rPr>
              <a:t> yang </a:t>
            </a:r>
            <a:r>
              <a:rPr lang="en-US" sz="1800" dirty="0" err="1">
                <a:solidFill>
                  <a:srgbClr val="000000"/>
                </a:solidFill>
                <a:effectLst/>
                <a:latin typeface="Arial" panose="020B0604020202020204" pitchFamily="34" charset="0"/>
                <a:ea typeface="Times New Roman" panose="02020603050405020304" pitchFamily="18" charset="0"/>
              </a:rPr>
              <a:t>memungkinkan</a:t>
            </a:r>
            <a:r>
              <a:rPr lang="en-US" sz="1800" dirty="0">
                <a:solidFill>
                  <a:srgbClr val="000000"/>
                </a:solidFill>
                <a:effectLst/>
                <a:latin typeface="Arial" panose="020B0604020202020204" pitchFamily="34" charset="0"/>
                <a:ea typeface="Times New Roman" panose="02020603050405020304" pitchFamily="18" charset="0"/>
              </a:rPr>
              <a:t> para </a:t>
            </a:r>
            <a:r>
              <a:rPr lang="en-US" sz="1800" dirty="0" err="1">
                <a:solidFill>
                  <a:srgbClr val="000000"/>
                </a:solidFill>
                <a:effectLst/>
                <a:latin typeface="Arial" panose="020B0604020202020204" pitchFamily="34" charset="0"/>
                <a:ea typeface="Times New Roman" panose="02020603050405020304" pitchFamily="18" charset="0"/>
              </a:rPr>
              <a:t>penggunanya</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dapat</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tersambung</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ke</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layanan</a:t>
            </a:r>
            <a:r>
              <a:rPr lang="en-US" sz="1800" dirty="0">
                <a:solidFill>
                  <a:srgbClr val="000000"/>
                </a:solidFill>
                <a:effectLst/>
                <a:latin typeface="Arial" panose="020B0604020202020204" pitchFamily="34" charset="0"/>
                <a:ea typeface="Times New Roman" panose="02020603050405020304" pitchFamily="18" charset="0"/>
              </a:rPr>
              <a:t> internet </a:t>
            </a:r>
            <a:r>
              <a:rPr lang="en-US" sz="1800" dirty="0" err="1">
                <a:solidFill>
                  <a:srgbClr val="000000"/>
                </a:solidFill>
                <a:effectLst/>
                <a:latin typeface="Arial" panose="020B0604020202020204" pitchFamily="34" charset="0"/>
                <a:ea typeface="Times New Roman" panose="02020603050405020304" pitchFamily="18" charset="0"/>
              </a:rPr>
              <a:t>secara</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pribadi</a:t>
            </a:r>
            <a:r>
              <a:rPr lang="en-US" sz="1800" dirty="0">
                <a:solidFill>
                  <a:srgbClr val="000000"/>
                </a:solidFill>
                <a:effectLst/>
                <a:latin typeface="Arial" panose="020B0604020202020204" pitchFamily="34" charset="0"/>
                <a:ea typeface="Times New Roman" panose="02020603050405020304" pitchFamily="18" charset="0"/>
              </a:rPr>
              <a:t>. VPN </a:t>
            </a:r>
            <a:r>
              <a:rPr lang="en-US" sz="1800" dirty="0" err="1">
                <a:solidFill>
                  <a:srgbClr val="000000"/>
                </a:solidFill>
                <a:effectLst/>
                <a:latin typeface="Arial" panose="020B0604020202020204" pitchFamily="34" charset="0"/>
                <a:ea typeface="Times New Roman" panose="02020603050405020304" pitchFamily="18" charset="0"/>
              </a:rPr>
              <a:t>dikatakan</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mampu</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memberikan</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akses</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secara</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aman</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melalui</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koneksi</a:t>
            </a:r>
            <a:r>
              <a:rPr lang="en-US" sz="1800" dirty="0">
                <a:solidFill>
                  <a:srgbClr val="000000"/>
                </a:solidFill>
                <a:effectLst/>
                <a:latin typeface="Arial" panose="020B0604020202020204" pitchFamily="34" charset="0"/>
                <a:ea typeface="Times New Roman" panose="02020603050405020304" pitchFamily="18" charset="0"/>
              </a:rPr>
              <a:t> server </a:t>
            </a:r>
            <a:r>
              <a:rPr lang="en-US" sz="1800" dirty="0" err="1">
                <a:solidFill>
                  <a:srgbClr val="000000"/>
                </a:solidFill>
                <a:effectLst/>
                <a:latin typeface="Arial" panose="020B0604020202020204" pitchFamily="34" charset="0"/>
                <a:ea typeface="Times New Roman" panose="02020603050405020304" pitchFamily="18" charset="0"/>
              </a:rPr>
              <a:t>dengan</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menyembunyikan</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jejak</a:t>
            </a:r>
            <a:r>
              <a:rPr lang="en-US" sz="1800" dirty="0">
                <a:solidFill>
                  <a:srgbClr val="000000"/>
                </a:solidFill>
                <a:effectLst/>
                <a:latin typeface="Arial" panose="020B0604020202020204" pitchFamily="34" charset="0"/>
                <a:ea typeface="Times New Roman" panose="02020603050405020304" pitchFamily="18" charset="0"/>
              </a:rPr>
              <a:t> data </a:t>
            </a:r>
            <a:r>
              <a:rPr lang="en-US" sz="1800" dirty="0" err="1">
                <a:solidFill>
                  <a:srgbClr val="000000"/>
                </a:solidFill>
                <a:effectLst/>
                <a:latin typeface="Arial" panose="020B0604020202020204" pitchFamily="34" charset="0"/>
                <a:ea typeface="Times New Roman" panose="02020603050405020304" pitchFamily="18" charset="0"/>
              </a:rPr>
              <a:t>pribadi</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si</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pemakainya</a:t>
            </a:r>
            <a:r>
              <a:rPr lang="en-US" sz="1800" dirty="0">
                <a:solidFill>
                  <a:srgbClr val="000000"/>
                </a:solidFill>
                <a:effectLst/>
                <a:latin typeface="Arial" panose="020B0604020202020204" pitchFamily="34" charset="0"/>
                <a:ea typeface="Times New Roman" panose="02020603050405020304" pitchFamily="18" charset="0"/>
              </a:rPr>
              <a:t>.</a:t>
            </a:r>
            <a:br>
              <a:rPr lang="en-US" sz="1800" dirty="0">
                <a:solidFill>
                  <a:srgbClr val="000000"/>
                </a:solidFill>
                <a:effectLst/>
                <a:latin typeface="Arial" panose="020B0604020202020204" pitchFamily="34" charset="0"/>
                <a:ea typeface="Times New Roman" panose="02020603050405020304" pitchFamily="18" charset="0"/>
              </a:rPr>
            </a:br>
            <a:br>
              <a:rPr lang="en-US" sz="1800" dirty="0">
                <a:solidFill>
                  <a:srgbClr val="000000"/>
                </a:solidFill>
                <a:effectLst/>
                <a:latin typeface="Arial" panose="020B0604020202020204" pitchFamily="34" charset="0"/>
                <a:ea typeface="Times New Roman" panose="02020603050405020304" pitchFamily="18" charset="0"/>
              </a:rPr>
            </a:b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Layanan</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koneksi</a:t>
            </a:r>
            <a:r>
              <a:rPr lang="en-US" sz="1800" dirty="0">
                <a:solidFill>
                  <a:srgbClr val="000000"/>
                </a:solidFill>
                <a:effectLst/>
                <a:latin typeface="Arial" panose="020B0604020202020204" pitchFamily="34" charset="0"/>
                <a:ea typeface="Times New Roman" panose="02020603050405020304" pitchFamily="18" charset="0"/>
              </a:rPr>
              <a:t> VPN </a:t>
            </a:r>
            <a:r>
              <a:rPr lang="en-US" sz="1800" dirty="0" err="1">
                <a:solidFill>
                  <a:srgbClr val="000000"/>
                </a:solidFill>
                <a:effectLst/>
                <a:latin typeface="Arial" panose="020B0604020202020204" pitchFamily="34" charset="0"/>
                <a:ea typeface="Times New Roman" panose="02020603050405020304" pitchFamily="18" charset="0"/>
              </a:rPr>
              <a:t>memberikan</a:t>
            </a:r>
            <a:r>
              <a:rPr lang="en-US" sz="1800" dirty="0">
                <a:solidFill>
                  <a:srgbClr val="000000"/>
                </a:solidFill>
                <a:effectLst/>
                <a:latin typeface="Arial" panose="020B0604020202020204" pitchFamily="34" charset="0"/>
                <a:ea typeface="Times New Roman" panose="02020603050405020304" pitchFamily="18" charset="0"/>
              </a:rPr>
              <a:t> Anda </a:t>
            </a:r>
            <a:r>
              <a:rPr lang="en-US" sz="1800" dirty="0" err="1">
                <a:solidFill>
                  <a:srgbClr val="000000"/>
                </a:solidFill>
                <a:effectLst/>
                <a:latin typeface="Arial" panose="020B0604020202020204" pitchFamily="34" charset="0"/>
                <a:ea typeface="Times New Roman" panose="02020603050405020304" pitchFamily="18" charset="0"/>
              </a:rPr>
              <a:t>sebagai</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penggunanya</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akses</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ke</a:t>
            </a:r>
            <a:r>
              <a:rPr lang="en-US" sz="1800" dirty="0">
                <a:solidFill>
                  <a:srgbClr val="000000"/>
                </a:solidFill>
                <a:effectLst/>
                <a:latin typeface="Arial" panose="020B0604020202020204" pitchFamily="34" charset="0"/>
                <a:ea typeface="Times New Roman" panose="02020603050405020304" pitchFamily="18" charset="0"/>
              </a:rPr>
              <a:t> website </a:t>
            </a:r>
            <a:r>
              <a:rPr lang="en-US" sz="1800" dirty="0" err="1">
                <a:solidFill>
                  <a:srgbClr val="000000"/>
                </a:solidFill>
                <a:effectLst/>
                <a:latin typeface="Arial" panose="020B0604020202020204" pitchFamily="34" charset="0"/>
                <a:ea typeface="Times New Roman" panose="02020603050405020304" pitchFamily="18" charset="0"/>
              </a:rPr>
              <a:t>secara</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aman</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atau</a:t>
            </a:r>
            <a:r>
              <a:rPr lang="en-US" sz="1800" dirty="0">
                <a:solidFill>
                  <a:srgbClr val="000000"/>
                </a:solidFill>
                <a:effectLst/>
                <a:latin typeface="Arial" panose="020B0604020202020204" pitchFamily="34" charset="0"/>
                <a:ea typeface="Times New Roman" panose="02020603050405020304" pitchFamily="18" charset="0"/>
              </a:rPr>
              <a:t> secure dan </a:t>
            </a:r>
            <a:r>
              <a:rPr lang="en-US" sz="1800" dirty="0" err="1">
                <a:solidFill>
                  <a:srgbClr val="000000"/>
                </a:solidFill>
                <a:effectLst/>
                <a:latin typeface="Arial" panose="020B0604020202020204" pitchFamily="34" charset="0"/>
                <a:ea typeface="Times New Roman" panose="02020603050405020304" pitchFamily="18" charset="0"/>
              </a:rPr>
              <a:t>pribadi</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atau</a:t>
            </a:r>
            <a:r>
              <a:rPr lang="en-US" sz="1800" dirty="0">
                <a:solidFill>
                  <a:srgbClr val="000000"/>
                </a:solidFill>
                <a:effectLst/>
                <a:latin typeface="Arial" panose="020B0604020202020204" pitchFamily="34" charset="0"/>
                <a:ea typeface="Times New Roman" panose="02020603050405020304" pitchFamily="18" charset="0"/>
              </a:rPr>
              <a:t> private </a:t>
            </a:r>
            <a:r>
              <a:rPr lang="en-US" sz="1800" dirty="0" err="1">
                <a:solidFill>
                  <a:srgbClr val="000000"/>
                </a:solidFill>
                <a:effectLst/>
                <a:latin typeface="Arial" panose="020B0604020202020204" pitchFamily="34" charset="0"/>
                <a:ea typeface="Times New Roman" panose="02020603050405020304" pitchFamily="18" charset="0"/>
              </a:rPr>
              <a:t>dengan</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mengubah</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jalur</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koneksi</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dengan</a:t>
            </a:r>
            <a:r>
              <a:rPr lang="en-US" sz="1800" dirty="0">
                <a:solidFill>
                  <a:srgbClr val="000000"/>
                </a:solidFill>
                <a:effectLst/>
                <a:latin typeface="Arial" panose="020B0604020202020204" pitchFamily="34" charset="0"/>
                <a:ea typeface="Times New Roman" panose="02020603050405020304" pitchFamily="18" charset="0"/>
              </a:rPr>
              <a:t> server dan </a:t>
            </a:r>
            <a:r>
              <a:rPr lang="en-US" sz="1800" dirty="0" err="1">
                <a:solidFill>
                  <a:srgbClr val="000000"/>
                </a:solidFill>
                <a:effectLst/>
                <a:latin typeface="Arial" panose="020B0604020202020204" pitchFamily="34" charset="0"/>
                <a:ea typeface="Times New Roman" panose="02020603050405020304" pitchFamily="18" charset="0"/>
              </a:rPr>
              <a:t>menyembunyikan</a:t>
            </a:r>
            <a:r>
              <a:rPr lang="en-US" sz="1800" dirty="0">
                <a:solidFill>
                  <a:srgbClr val="000000"/>
                </a:solidFill>
                <a:effectLst/>
                <a:latin typeface="Arial" panose="020B0604020202020204" pitchFamily="34" charset="0"/>
                <a:ea typeface="Times New Roman" panose="02020603050405020304" pitchFamily="18" charset="0"/>
              </a:rPr>
              <a:t> </a:t>
            </a:r>
            <a:r>
              <a:rPr lang="en-US" sz="1800" dirty="0" err="1">
                <a:solidFill>
                  <a:srgbClr val="000000"/>
                </a:solidFill>
                <a:effectLst/>
                <a:latin typeface="Arial" panose="020B0604020202020204" pitchFamily="34" charset="0"/>
                <a:ea typeface="Times New Roman" panose="02020603050405020304" pitchFamily="18" charset="0"/>
              </a:rPr>
              <a:t>pertukaran</a:t>
            </a:r>
            <a:r>
              <a:rPr lang="en-US" sz="1800" dirty="0">
                <a:solidFill>
                  <a:srgbClr val="000000"/>
                </a:solidFill>
                <a:effectLst/>
                <a:latin typeface="Arial" panose="020B0604020202020204" pitchFamily="34" charset="0"/>
                <a:ea typeface="Times New Roman" panose="02020603050405020304" pitchFamily="18" charset="0"/>
              </a:rPr>
              <a:t> data.</a:t>
            </a:r>
            <a:endParaRPr lang="en-US" sz="1800" dirty="0">
              <a:effectLst/>
              <a:latin typeface="Times New Roman" panose="02020603050405020304" pitchFamily="18" charset="0"/>
              <a:ea typeface="Times New Roman" panose="02020603050405020304" pitchFamily="18" charset="0"/>
            </a:endParaRPr>
          </a:p>
          <a:p>
            <a:pPr algn="just"/>
            <a:r>
              <a:rPr lang="en-US" sz="1800" dirty="0">
                <a:solidFill>
                  <a:srgbClr val="000000"/>
                </a:solidFill>
                <a:latin typeface="Arial" panose="020B0604020202020204" pitchFamily="34" charset="0"/>
                <a:ea typeface="Calibri" panose="020F0502020204030204" pitchFamily="34" charset="0"/>
              </a:rPr>
              <a:t>   </a:t>
            </a:r>
            <a:r>
              <a:rPr lang="id-ID" sz="1800" dirty="0">
                <a:solidFill>
                  <a:srgbClr val="000000"/>
                </a:solidFill>
                <a:effectLst/>
                <a:latin typeface="Arial" panose="020B0604020202020204" pitchFamily="34" charset="0"/>
                <a:ea typeface="Calibri" panose="020F0502020204030204" pitchFamily="34" charset="0"/>
              </a:rPr>
              <a:t>Secara sederhana, VPN akan mengkoneksikan smartphone, tablet, PC ke komputer yang lainnya yang terhubung dengan internet. Dengan begitu, Anda bisa menjelajah internet menggunakan jaringan internet komputer.</a:t>
            </a:r>
            <a:endParaRPr lang="en-US" sz="1800" dirty="0">
              <a:solidFill>
                <a:schemeClr val="tx1"/>
              </a:solidFill>
            </a:endParaRPr>
          </a:p>
        </p:txBody>
      </p:sp>
    </p:spTree>
    <p:extLst>
      <p:ext uri="{BB962C8B-B14F-4D97-AF65-F5344CB8AC3E}">
        <p14:creationId xmlns:p14="http://schemas.microsoft.com/office/powerpoint/2010/main" val="784902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3011E-D67D-4090-9AF3-B41D9F1E75BA}"/>
              </a:ext>
            </a:extLst>
          </p:cNvPr>
          <p:cNvSpPr>
            <a:spLocks noGrp="1"/>
          </p:cNvSpPr>
          <p:nvPr>
            <p:ph type="title"/>
          </p:nvPr>
        </p:nvSpPr>
        <p:spPr/>
        <p:txBody>
          <a:bodyPr/>
          <a:lstStyle/>
          <a:p>
            <a:r>
              <a:rPr lang="en-US" dirty="0"/>
              <a:t>ISP </a:t>
            </a:r>
            <a:br>
              <a:rPr lang="en-US" dirty="0"/>
            </a:br>
            <a:r>
              <a:rPr lang="en-US" dirty="0"/>
              <a:t>(INTERNET SERVICE PROVIDER)</a:t>
            </a:r>
          </a:p>
        </p:txBody>
      </p:sp>
    </p:spTree>
    <p:extLst>
      <p:ext uri="{BB962C8B-B14F-4D97-AF65-F5344CB8AC3E}">
        <p14:creationId xmlns:p14="http://schemas.microsoft.com/office/powerpoint/2010/main" val="3232951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2B14C-0C20-4CAB-BCA9-A7D10795B518}"/>
              </a:ext>
            </a:extLst>
          </p:cNvPr>
          <p:cNvSpPr>
            <a:spLocks noGrp="1"/>
          </p:cNvSpPr>
          <p:nvPr>
            <p:ph type="title"/>
          </p:nvPr>
        </p:nvSpPr>
        <p:spPr>
          <a:xfrm>
            <a:off x="1853826" y="261415"/>
            <a:ext cx="2121408" cy="663001"/>
          </a:xfrm>
        </p:spPr>
        <p:txBody>
          <a:bodyPr>
            <a:normAutofit fontScale="90000"/>
          </a:bodyPr>
          <a:lstStyle/>
          <a:p>
            <a:r>
              <a:rPr lang="en-US" dirty="0"/>
              <a:t>ISP</a:t>
            </a:r>
          </a:p>
        </p:txBody>
      </p:sp>
      <p:sp>
        <p:nvSpPr>
          <p:cNvPr id="4" name="Text Placeholder 3">
            <a:extLst>
              <a:ext uri="{FF2B5EF4-FFF2-40B4-BE49-F238E27FC236}">
                <a16:creationId xmlns:a16="http://schemas.microsoft.com/office/drawing/2014/main" id="{5A33A345-426C-4106-BFC2-1A0D33BA9C39}"/>
              </a:ext>
            </a:extLst>
          </p:cNvPr>
          <p:cNvSpPr>
            <a:spLocks noGrp="1"/>
          </p:cNvSpPr>
          <p:nvPr>
            <p:ph type="body" sz="half" idx="2"/>
          </p:nvPr>
        </p:nvSpPr>
        <p:spPr>
          <a:xfrm>
            <a:off x="190413" y="1156516"/>
            <a:ext cx="5642810" cy="5940232"/>
          </a:xfrm>
        </p:spPr>
        <p:txBody>
          <a:bodyPr>
            <a:noAutofit/>
          </a:bodyPr>
          <a:lstStyle/>
          <a:p>
            <a:pPr algn="just">
              <a:lnSpc>
                <a:spcPct val="107000"/>
              </a:lnSpc>
              <a:spcAft>
                <a:spcPts val="800"/>
              </a:spcAft>
            </a:pPr>
            <a:r>
              <a:rPr lang="en-US" sz="2000" dirty="0">
                <a:solidFill>
                  <a:schemeClr val="tx1"/>
                </a:solidFill>
                <a:latin typeface="Arial" panose="020B0604020202020204" pitchFamily="34" charset="0"/>
                <a:ea typeface="Calibri" panose="020F0502020204030204" pitchFamily="34" charset="0"/>
                <a:cs typeface="Times New Roman" panose="02020603050405020304" pitchFamily="18" charset="0"/>
              </a:rPr>
              <a:t>   </a:t>
            </a:r>
            <a:r>
              <a:rPr lang="id-ID" sz="2000" dirty="0">
                <a:solidFill>
                  <a:schemeClr val="tx1"/>
                </a:solidFill>
                <a:effectLst/>
                <a:latin typeface="Arial" panose="020B0604020202020204" pitchFamily="34" charset="0"/>
                <a:ea typeface="Calibri" panose="020F0502020204030204" pitchFamily="34" charset="0"/>
                <a:cs typeface="Times New Roman" panose="02020603050405020304" pitchFamily="18" charset="0"/>
              </a:rPr>
              <a:t>ISP adalah bisnis atau institusi yang menawarkan akses internet kepada pelanggan akhir melalui koneksi serat optik, nirkabel, atau kabel. Mereka berfungsi sebagai saluran yang menghubungkan perangkat konsumen ke jaringan internet di seluruh dunia.</a:t>
            </a:r>
            <a:endPar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ISP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bekerja</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dengan</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menghubungkan</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pengguna</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jaringan</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internet global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melalui</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infrastruktur</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jaringannya</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sendiri</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kabel</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serat</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optic,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nirkabel</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atau</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satelit</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memberikan</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alamar</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IP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unik</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kepada</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setiap</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perangkat</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pengguna</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dan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mengelola</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lalulintas</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data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untuk</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memastikan</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koneksi</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yang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stabil</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dan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cepat</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Pengguna</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akan</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berlangganan</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layanan</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ISP,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lalu</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perangkat</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mereka</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akan</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terhubung</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modem?router</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ISP, yang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kemudian</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mengirimkan</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permintaan</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akses</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ke</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jaringan</a:t>
            </a:r>
            <a:r>
              <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ISP</a:t>
            </a:r>
            <a:endParaRPr lang="en-US" sz="2000" dirty="0">
              <a:solidFill>
                <a:schemeClr val="tx1"/>
              </a:solidFill>
            </a:endParaRPr>
          </a:p>
        </p:txBody>
      </p:sp>
      <p:pic>
        <p:nvPicPr>
          <p:cNvPr id="8" name="Content Placeholder 7">
            <a:extLst>
              <a:ext uri="{FF2B5EF4-FFF2-40B4-BE49-F238E27FC236}">
                <a16:creationId xmlns:a16="http://schemas.microsoft.com/office/drawing/2014/main" id="{F638AA8A-9B66-4DE7-A4F8-B01AF025A6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82753" y="1706956"/>
            <a:ext cx="5618834" cy="3444087"/>
          </a:xfrm>
        </p:spPr>
      </p:pic>
    </p:spTree>
    <p:extLst>
      <p:ext uri="{BB962C8B-B14F-4D97-AF65-F5344CB8AC3E}">
        <p14:creationId xmlns:p14="http://schemas.microsoft.com/office/powerpoint/2010/main" val="2968949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3011E-D67D-4090-9AF3-B41D9F1E75BA}"/>
              </a:ext>
            </a:extLst>
          </p:cNvPr>
          <p:cNvSpPr>
            <a:spLocks noGrp="1"/>
          </p:cNvSpPr>
          <p:nvPr>
            <p:ph type="title"/>
          </p:nvPr>
        </p:nvSpPr>
        <p:spPr/>
        <p:txBody>
          <a:bodyPr/>
          <a:lstStyle/>
          <a:p>
            <a:r>
              <a:rPr lang="en-US" dirty="0" err="1"/>
              <a:t>Tcp</a:t>
            </a:r>
            <a:r>
              <a:rPr lang="en-US" dirty="0"/>
              <a:t>/</a:t>
            </a:r>
            <a:r>
              <a:rPr lang="en-US" dirty="0" err="1"/>
              <a:t>ip</a:t>
            </a:r>
            <a:endParaRPr lang="en-US" dirty="0"/>
          </a:p>
        </p:txBody>
      </p:sp>
    </p:spTree>
    <p:extLst>
      <p:ext uri="{BB962C8B-B14F-4D97-AF65-F5344CB8AC3E}">
        <p14:creationId xmlns:p14="http://schemas.microsoft.com/office/powerpoint/2010/main" val="4035351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2B14C-0C20-4CAB-BCA9-A7D10795B518}"/>
              </a:ext>
            </a:extLst>
          </p:cNvPr>
          <p:cNvSpPr>
            <a:spLocks noGrp="1"/>
          </p:cNvSpPr>
          <p:nvPr>
            <p:ph type="title"/>
          </p:nvPr>
        </p:nvSpPr>
        <p:spPr>
          <a:xfrm>
            <a:off x="1853826" y="181902"/>
            <a:ext cx="2121408" cy="663001"/>
          </a:xfrm>
        </p:spPr>
        <p:txBody>
          <a:bodyPr>
            <a:normAutofit fontScale="90000"/>
          </a:bodyPr>
          <a:lstStyle/>
          <a:p>
            <a:r>
              <a:rPr lang="en-US" dirty="0" err="1"/>
              <a:t>Tcp</a:t>
            </a:r>
            <a:r>
              <a:rPr lang="en-US" dirty="0"/>
              <a:t>/</a:t>
            </a:r>
            <a:r>
              <a:rPr lang="en-US" dirty="0" err="1"/>
              <a:t>ip</a:t>
            </a:r>
            <a:endParaRPr lang="en-US" dirty="0"/>
          </a:p>
        </p:txBody>
      </p:sp>
      <p:sp>
        <p:nvSpPr>
          <p:cNvPr id="4" name="Text Placeholder 3">
            <a:extLst>
              <a:ext uri="{FF2B5EF4-FFF2-40B4-BE49-F238E27FC236}">
                <a16:creationId xmlns:a16="http://schemas.microsoft.com/office/drawing/2014/main" id="{5A33A345-426C-4106-BFC2-1A0D33BA9C39}"/>
              </a:ext>
            </a:extLst>
          </p:cNvPr>
          <p:cNvSpPr>
            <a:spLocks noGrp="1"/>
          </p:cNvSpPr>
          <p:nvPr>
            <p:ph type="body" sz="half" idx="2"/>
          </p:nvPr>
        </p:nvSpPr>
        <p:spPr>
          <a:xfrm>
            <a:off x="289805" y="1103690"/>
            <a:ext cx="5642810" cy="5522789"/>
          </a:xfrm>
        </p:spPr>
        <p:txBody>
          <a:bodyPr>
            <a:noAutofit/>
          </a:bodyPr>
          <a:lstStyle/>
          <a:p>
            <a:pPr algn="just">
              <a:lnSpc>
                <a:spcPct val="107000"/>
              </a:lnSpc>
              <a:spcAft>
                <a:spcPts val="800"/>
              </a:spcAft>
            </a:pPr>
            <a:r>
              <a:rPr lang="id-ID" sz="2000" dirty="0">
                <a:solidFill>
                  <a:schemeClr val="tx1"/>
                </a:solidFill>
                <a:effectLst/>
                <a:latin typeface="SF UI Display"/>
                <a:ea typeface="Calibri" panose="020F0502020204030204" pitchFamily="34" charset="0"/>
                <a:cs typeface="Times New Roman" panose="02020603050405020304" pitchFamily="18" charset="0"/>
              </a:rPr>
              <a:t>Transmission Control Protocol/Internet Protocol atau TCP/IP merupakan salah satu jenis protokol yang berguna untuk melakukan proses pertukaran data di antara perangkat yang saling terhubung. Singkatnya, TCP/IP dapat diibaratkan sebagai jembatan yang menghubungkan dua atau lebih perangkat dalam jaringan internet sehingga proses pertukaran data bisa terjadi.</a:t>
            </a:r>
            <a:endPar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CD3FD214-155E-490C-9817-C24246AE73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85387" y="1809549"/>
            <a:ext cx="5516808" cy="2868328"/>
          </a:xfrm>
        </p:spPr>
      </p:pic>
    </p:spTree>
    <p:extLst>
      <p:ext uri="{BB962C8B-B14F-4D97-AF65-F5344CB8AC3E}">
        <p14:creationId xmlns:p14="http://schemas.microsoft.com/office/powerpoint/2010/main" val="20715536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2B14C-0C20-4CAB-BCA9-A7D10795B518}"/>
              </a:ext>
            </a:extLst>
          </p:cNvPr>
          <p:cNvSpPr>
            <a:spLocks noGrp="1"/>
          </p:cNvSpPr>
          <p:nvPr>
            <p:ph type="title"/>
          </p:nvPr>
        </p:nvSpPr>
        <p:spPr>
          <a:xfrm>
            <a:off x="1853826" y="181902"/>
            <a:ext cx="2121408" cy="663001"/>
          </a:xfrm>
        </p:spPr>
        <p:txBody>
          <a:bodyPr>
            <a:normAutofit fontScale="90000"/>
          </a:bodyPr>
          <a:lstStyle/>
          <a:p>
            <a:r>
              <a:rPr lang="en-US" dirty="0" err="1"/>
              <a:t>Tcp</a:t>
            </a:r>
            <a:r>
              <a:rPr lang="en-US" dirty="0"/>
              <a:t>/</a:t>
            </a:r>
            <a:r>
              <a:rPr lang="en-US" dirty="0" err="1"/>
              <a:t>ip</a:t>
            </a:r>
            <a:endParaRPr lang="en-US" dirty="0"/>
          </a:p>
        </p:txBody>
      </p:sp>
      <p:sp>
        <p:nvSpPr>
          <p:cNvPr id="4" name="Text Placeholder 3">
            <a:extLst>
              <a:ext uri="{FF2B5EF4-FFF2-40B4-BE49-F238E27FC236}">
                <a16:creationId xmlns:a16="http://schemas.microsoft.com/office/drawing/2014/main" id="{5A33A345-426C-4106-BFC2-1A0D33BA9C39}"/>
              </a:ext>
            </a:extLst>
          </p:cNvPr>
          <p:cNvSpPr>
            <a:spLocks noGrp="1"/>
          </p:cNvSpPr>
          <p:nvPr>
            <p:ph type="body" sz="half" idx="2"/>
          </p:nvPr>
        </p:nvSpPr>
        <p:spPr>
          <a:xfrm>
            <a:off x="93125" y="1063856"/>
            <a:ext cx="5642810" cy="5522789"/>
          </a:xfrm>
        </p:spPr>
        <p:txBody>
          <a:bodyPr>
            <a:noAutofit/>
          </a:bodyPr>
          <a:lstStyle/>
          <a:p>
            <a:pPr marL="285750" lvl="0" indent="-285750" algn="just">
              <a:lnSpc>
                <a:spcPct val="107000"/>
              </a:lnSpc>
              <a:spcAft>
                <a:spcPts val="800"/>
              </a:spcAft>
              <a:buFont typeface="Arial" panose="020B0604020202020204" pitchFamily="34" charset="0"/>
              <a:buChar char="•"/>
              <a:tabLst>
                <a:tab pos="457200" algn="l"/>
              </a:tabLst>
            </a:pP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Pertama-tama</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protokol</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akan</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memecah</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data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hingga</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menjadi</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kecil</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dan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selanjutnya</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data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tersebut</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dikirimkan</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melalui</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media.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Paket</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data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memiliki</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label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berbeda</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dan juga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sudah</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memiliki</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alamat</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pengiriman</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sehingga</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bisa</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sampai</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ke</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tempat</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tujuan</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yang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tepat</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07000"/>
              </a:lnSpc>
              <a:spcAft>
                <a:spcPts val="800"/>
              </a:spcAft>
              <a:buFont typeface="Arial" panose="020B0604020202020204" pitchFamily="34" charset="0"/>
              <a:buChar char="•"/>
              <a:tabLst>
                <a:tab pos="457200" algn="l"/>
              </a:tabLst>
            </a:pP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Data yang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sudah</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dipecah</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dan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memiliki</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alamat</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selanjutnya</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akan</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dikirim</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melalui</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router. Router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berfungsi</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untuk</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mengantarkan</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paket</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ke</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tujuan</a:t>
            </a:r>
            <a:r>
              <a:rPr lang="en-US" sz="2000" dirty="0">
                <a:solidFill>
                  <a:srgbClr val="212529"/>
                </a:solidFill>
                <a:effectLst/>
                <a:latin typeface="Arial" panose="020B0604020202020204" pitchFamily="34" charset="0"/>
                <a:ea typeface="Times New Roman" panose="02020603050405020304" pitchFamily="18" charset="0"/>
                <a:cs typeface="Times New Roman" panose="02020603050405020304" pitchFamily="18" charset="0"/>
              </a:rPr>
              <a:t> masing-masing.</a:t>
            </a:r>
            <a:endParaRPr lang="en-US" sz="2000" dirty="0">
              <a:solidFill>
                <a:schemeClr val="tx1">
                  <a:lumMod val="85000"/>
                  <a:lumOff val="15000"/>
                </a:schemeClr>
              </a:solidFill>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07000"/>
              </a:lnSpc>
              <a:spcAft>
                <a:spcPts val="800"/>
              </a:spcAft>
              <a:buFont typeface="Arial" panose="020B0604020202020204" pitchFamily="34" charset="0"/>
              <a:buChar char="•"/>
              <a:tabLst>
                <a:tab pos="457200" algn="l"/>
              </a:tabLst>
            </a:pPr>
            <a:r>
              <a:rPr lang="en-US" sz="2000" dirty="0">
                <a:solidFill>
                  <a:srgbClr val="212529"/>
                </a:solidFill>
                <a:effectLst/>
                <a:latin typeface="Arial" panose="020B0604020202020204" pitchFamily="34" charset="0"/>
                <a:ea typeface="Times New Roman" panose="02020603050405020304" pitchFamily="18" charset="0"/>
              </a:rPr>
              <a:t>Setelah </a:t>
            </a:r>
            <a:r>
              <a:rPr lang="en-US" sz="2000" dirty="0" err="1">
                <a:solidFill>
                  <a:srgbClr val="212529"/>
                </a:solidFill>
                <a:effectLst/>
                <a:latin typeface="Arial" panose="020B0604020202020204" pitchFamily="34" charset="0"/>
                <a:ea typeface="Times New Roman" panose="02020603050405020304" pitchFamily="18" charset="0"/>
              </a:rPr>
              <a:t>dikirim</a:t>
            </a:r>
            <a:r>
              <a:rPr lang="en-US" sz="2000" dirty="0">
                <a:solidFill>
                  <a:srgbClr val="212529"/>
                </a:solidFill>
                <a:effectLst/>
                <a:latin typeface="Arial" panose="020B0604020202020204" pitchFamily="34" charset="0"/>
                <a:ea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rPr>
              <a:t>melalui</a:t>
            </a:r>
            <a:r>
              <a:rPr lang="en-US" sz="2000" dirty="0">
                <a:solidFill>
                  <a:srgbClr val="212529"/>
                </a:solidFill>
                <a:effectLst/>
                <a:latin typeface="Arial" panose="020B0604020202020204" pitchFamily="34" charset="0"/>
                <a:ea typeface="Times New Roman" panose="02020603050405020304" pitchFamily="18" charset="0"/>
              </a:rPr>
              <a:t> router, </a:t>
            </a:r>
            <a:r>
              <a:rPr lang="en-US" sz="2000" dirty="0" err="1">
                <a:solidFill>
                  <a:srgbClr val="212529"/>
                </a:solidFill>
                <a:effectLst/>
                <a:latin typeface="Arial" panose="020B0604020202020204" pitchFamily="34" charset="0"/>
                <a:ea typeface="Times New Roman" panose="02020603050405020304" pitchFamily="18" charset="0"/>
              </a:rPr>
              <a:t>pakai</a:t>
            </a:r>
            <a:r>
              <a:rPr lang="en-US" sz="2000" dirty="0">
                <a:solidFill>
                  <a:srgbClr val="212529"/>
                </a:solidFill>
                <a:effectLst/>
                <a:latin typeface="Arial" panose="020B0604020202020204" pitchFamily="34" charset="0"/>
                <a:ea typeface="Times New Roman" panose="02020603050405020304" pitchFamily="18" charset="0"/>
              </a:rPr>
              <a:t> data </a:t>
            </a:r>
            <a:r>
              <a:rPr lang="en-US" sz="2000" dirty="0" err="1">
                <a:solidFill>
                  <a:srgbClr val="212529"/>
                </a:solidFill>
                <a:effectLst/>
                <a:latin typeface="Arial" panose="020B0604020202020204" pitchFamily="34" charset="0"/>
                <a:ea typeface="Times New Roman" panose="02020603050405020304" pitchFamily="18" charset="0"/>
              </a:rPr>
              <a:t>akan</a:t>
            </a:r>
            <a:r>
              <a:rPr lang="en-US" sz="2000" dirty="0">
                <a:solidFill>
                  <a:srgbClr val="212529"/>
                </a:solidFill>
                <a:effectLst/>
                <a:latin typeface="Arial" panose="020B0604020202020204" pitchFamily="34" charset="0"/>
                <a:ea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rPr>
              <a:t>sampai</a:t>
            </a:r>
            <a:r>
              <a:rPr lang="en-US" sz="2000" dirty="0">
                <a:solidFill>
                  <a:srgbClr val="212529"/>
                </a:solidFill>
                <a:effectLst/>
                <a:latin typeface="Arial" panose="020B0604020202020204" pitchFamily="34" charset="0"/>
                <a:ea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rPr>
              <a:t>ke</a:t>
            </a:r>
            <a:r>
              <a:rPr lang="en-US" sz="2000" dirty="0">
                <a:solidFill>
                  <a:srgbClr val="212529"/>
                </a:solidFill>
                <a:effectLst/>
                <a:latin typeface="Arial" panose="020B0604020202020204" pitchFamily="34" charset="0"/>
                <a:ea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rPr>
              <a:t>tempat</a:t>
            </a:r>
            <a:r>
              <a:rPr lang="en-US" sz="2000" dirty="0">
                <a:solidFill>
                  <a:srgbClr val="212529"/>
                </a:solidFill>
                <a:effectLst/>
                <a:latin typeface="Arial" panose="020B0604020202020204" pitchFamily="34" charset="0"/>
                <a:ea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rPr>
              <a:t>tujuan</a:t>
            </a:r>
            <a:r>
              <a:rPr lang="en-US" sz="2000" dirty="0">
                <a:solidFill>
                  <a:srgbClr val="212529"/>
                </a:solidFill>
                <a:effectLst/>
                <a:latin typeface="Arial" panose="020B0604020202020204" pitchFamily="34" charset="0"/>
                <a:ea typeface="Times New Roman" panose="02020603050405020304" pitchFamily="18" charset="0"/>
              </a:rPr>
              <a:t> dan </a:t>
            </a:r>
            <a:r>
              <a:rPr lang="en-US" sz="2000" dirty="0" err="1">
                <a:solidFill>
                  <a:srgbClr val="212529"/>
                </a:solidFill>
                <a:effectLst/>
                <a:latin typeface="Arial" panose="020B0604020202020204" pitchFamily="34" charset="0"/>
                <a:ea typeface="Times New Roman" panose="02020603050405020304" pitchFamily="18" charset="0"/>
              </a:rPr>
              <a:t>dapat</a:t>
            </a:r>
            <a:r>
              <a:rPr lang="en-US" sz="2000" dirty="0">
                <a:solidFill>
                  <a:srgbClr val="212529"/>
                </a:solidFill>
                <a:effectLst/>
                <a:latin typeface="Arial" panose="020B0604020202020204" pitchFamily="34" charset="0"/>
                <a:ea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rPr>
              <a:t>dibuka</a:t>
            </a:r>
            <a:r>
              <a:rPr lang="en-US" sz="2000" dirty="0">
                <a:solidFill>
                  <a:srgbClr val="212529"/>
                </a:solidFill>
                <a:effectLst/>
                <a:latin typeface="Arial" panose="020B0604020202020204" pitchFamily="34" charset="0"/>
                <a:ea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rPr>
              <a:t>melalui</a:t>
            </a:r>
            <a:r>
              <a:rPr lang="en-US" sz="2000" dirty="0">
                <a:solidFill>
                  <a:srgbClr val="212529"/>
                </a:solidFill>
                <a:effectLst/>
                <a:latin typeface="Arial" panose="020B0604020202020204" pitchFamily="34" charset="0"/>
                <a:ea typeface="Times New Roman" panose="02020603050405020304" pitchFamily="18" charset="0"/>
              </a:rPr>
              <a:t> </a:t>
            </a:r>
            <a:r>
              <a:rPr lang="en-US" sz="2000" dirty="0" err="1">
                <a:solidFill>
                  <a:srgbClr val="212529"/>
                </a:solidFill>
                <a:effectLst/>
                <a:latin typeface="Arial" panose="020B0604020202020204" pitchFamily="34" charset="0"/>
                <a:ea typeface="Times New Roman" panose="02020603050405020304" pitchFamily="18" charset="0"/>
              </a:rPr>
              <a:t>komputer</a:t>
            </a:r>
            <a:r>
              <a:rPr lang="en-US" sz="2000" dirty="0">
                <a:solidFill>
                  <a:srgbClr val="212529"/>
                </a:solidFill>
                <a:effectLst/>
                <a:latin typeface="Arial" panose="020B0604020202020204" pitchFamily="34" charset="0"/>
                <a:ea typeface="Times New Roman" panose="02020603050405020304" pitchFamily="18" charset="0"/>
              </a:rPr>
              <a:t> lain.</a:t>
            </a:r>
            <a:endParaRPr lang="en-US"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2442461F-D090-40EE-B4A4-15E625D47AA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12045" y="1896177"/>
            <a:ext cx="5596327" cy="2820202"/>
          </a:xfrm>
        </p:spPr>
      </p:pic>
    </p:spTree>
    <p:extLst>
      <p:ext uri="{BB962C8B-B14F-4D97-AF65-F5344CB8AC3E}">
        <p14:creationId xmlns:p14="http://schemas.microsoft.com/office/powerpoint/2010/main" val="1725122738"/>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650</TotalTime>
  <Words>866</Words>
  <Application>Microsoft Office PowerPoint</Application>
  <PresentationFormat>Widescreen</PresentationFormat>
  <Paragraphs>49</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Calibri</vt:lpstr>
      <vt:lpstr>Gill Sans MT</vt:lpstr>
      <vt:lpstr>Impact</vt:lpstr>
      <vt:lpstr>Segoe UI</vt:lpstr>
      <vt:lpstr>SF UI Display</vt:lpstr>
      <vt:lpstr>Symbol</vt:lpstr>
      <vt:lpstr>Times New Roman</vt:lpstr>
      <vt:lpstr>Parcel</vt:lpstr>
      <vt:lpstr>Muhammad raditya alfajri</vt:lpstr>
      <vt:lpstr>- PERBEDAAN INTERNET DAN INTRANET - PERBEDAAN INTERNET DAN EKSTRENET - VPN (VIRTUAL PRIVATE NETWORK) - CARA KERJA ISP (INTERNET SERVICE PROVIDER) - TCP/IP</vt:lpstr>
      <vt:lpstr>PERBEDAAN INTERNET &amp; INTRANET</vt:lpstr>
      <vt:lpstr>INTERNET</vt:lpstr>
      <vt:lpstr>INTRaNET</vt:lpstr>
      <vt:lpstr>PERBEDAAN INTERNET DAN INTRANET</vt:lpstr>
      <vt:lpstr>PERBEDAAN INTERNET &amp; EKSTRANET</vt:lpstr>
      <vt:lpstr>EKSTRANET</vt:lpstr>
      <vt:lpstr>KESIMPULAN</vt:lpstr>
      <vt:lpstr>Vpn  (virtual private network)</vt:lpstr>
      <vt:lpstr>vpn</vt:lpstr>
      <vt:lpstr>ISP  (INTERNET SERVICE PROVIDER)</vt:lpstr>
      <vt:lpstr>ISP</vt:lpstr>
      <vt:lpstr>Tcp/ip</vt:lpstr>
      <vt:lpstr>Tcp/ip</vt:lpstr>
      <vt:lpstr>Tcp/ip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Muhammad raditya alfajri</dc:title>
  <dc:creator>hi</dc:creator>
  <cp:lastModifiedBy>hi</cp:lastModifiedBy>
  <cp:revision>12</cp:revision>
  <dcterms:created xsi:type="dcterms:W3CDTF">2025-10-07T07:09:31Z</dcterms:created>
  <dcterms:modified xsi:type="dcterms:W3CDTF">2025-10-12T13:19:59Z</dcterms:modified>
</cp:coreProperties>
</file>